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reproceso</c:v>
                </c:pt>
              </c:strCache>
            </c:strRef>
          </c:tx>
          <c:dPt>
            <c:idx val="0"/>
            <c:spPr>
              <a:solidFill>
                <a:srgbClr val="1B7F4A"/>
              </a:solidFill>
            </c:spPr>
          </c:dPt>
          <c:dPt>
            <c:idx val="1"/>
            <c:spPr>
              <a:solidFill>
                <a:srgbClr val="ED6C23"/>
              </a:solidFill>
            </c:spPr>
          </c:dPt>
          <c:dPt>
            <c:idx val="2"/>
            <c:spPr>
              <a:solidFill>
                <a:srgbClr val="C0392B"/>
              </a:solidFill>
            </c:spPr>
          </c:dPt>
          <c:dPt>
            <c:idx val="3"/>
            <c:spPr>
              <a:solidFill>
                <a:srgbClr val="C0392B"/>
              </a:solidFill>
            </c:spPr>
          </c:dPt>
          <c:dPt>
            <c:idx val="4"/>
            <c:spPr>
              <a:noFill/>
              <a:ln w="19050">
                <a:solidFill>
                  <a:srgbClr val="ED6C23"/>
                </a:solidFill>
              </a:ln>
            </c:spPr>
          </c:dPt>
          <c:dPt>
            <c:idx val="5"/>
            <c:spPr>
              <a:noFill/>
              <a:ln w="19050">
                <a:solidFill>
                  <a:srgbClr val="ED6C23"/>
                </a:solidFill>
              </a:ln>
            </c:spPr>
          </c:dPt>
          <c:dPt>
            <c:idx val="6"/>
            <c:spPr>
              <a:noFill/>
              <a:ln w="19050">
                <a:solidFill>
                  <a:srgbClr val="ED6C23"/>
                </a:solidFill>
              </a:ln>
            </c:spPr>
          </c:dPt>
          <c:dPt>
            <c:idx val="7"/>
            <c:spPr>
              <a:noFill/>
              <a:ln w="19050">
                <a:solidFill>
                  <a:srgbClr val="ED6C23"/>
                </a:solidFill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27AE6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ED6C2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E74C3C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E74C3C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ED6C23"/>
                        </a:solidFill>
                      </a:rPr>
                      <a:t>≤11%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ED6C23"/>
                        </a:solidFill>
                      </a:rPr>
                      <a:t>≤8%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ED6C23"/>
                        </a:solidFill>
                      </a:rPr>
                      <a:t>≤6%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ED6C23"/>
                        </a:solidFill>
                      </a:rPr>
                      <a:t>≤5%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000" b="1">
                    <a:solidFill>
                      <a:srgbClr val="D0D0D0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MAY</c:v>
                </c:pt>
                <c:pt idx="1">
                  <c:v>JUN</c:v>
                </c:pt>
                <c:pt idx="2">
                  <c:v>JUL*</c:v>
                </c:pt>
                <c:pt idx="3">
                  <c:v>AGO</c:v>
                </c:pt>
                <c:pt idx="4">
                  <c:v>SEP</c:v>
                </c:pt>
                <c:pt idx="5">
                  <c:v>OCT</c:v>
                </c:pt>
                <c:pt idx="6">
                  <c:v>NOV</c:v>
                </c:pt>
                <c:pt idx="7">
                  <c:v>DIC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6.6</c:v>
                </c:pt>
                <c:pt idx="1">
                  <c:v>7.4</c:v>
                </c:pt>
                <c:pt idx="2">
                  <c:v>11.4</c:v>
                </c:pt>
                <c:pt idx="3">
                  <c:v>13.9</c:v>
                </c:pt>
                <c:pt idx="4">
                  <c:v>11</c:v>
                </c:pt>
                <c:pt idx="5">
                  <c:v>8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950" b="1">
                <a:solidFill>
                  <a:srgbClr val="9A9A9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9A9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Septiembre</c:v>
                </c:pt>
              </c:strCache>
            </c:strRef>
          </c:tx>
          <c:spPr>
            <a:solidFill>
              <a:srgbClr val="ED6C23"/>
            </a:solidFill>
          </c:spPr>
          <c:dLbls>
            <c:txPr>
              <a:bodyPr/>
              <a:lstStyle/>
              <a:p>
                <a:pPr>
                  <a:defRPr sz="850" b="1">
                    <a:solidFill>
                      <a:srgbClr val="D0D0D0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Faltó impresión</c:v>
                </c:pt>
                <c:pt idx="1">
                  <c:v>Confección</c:v>
                </c:pt>
                <c:pt idx="2">
                  <c:v>Diseño / ficha</c:v>
                </c:pt>
                <c:pt idx="3">
                  <c:v>Corte</c:v>
                </c:pt>
                <c:pt idx="4">
                  <c:v>Pendientes en taller</c:v>
                </c:pt>
                <c:pt idx="5">
                  <c:v>Sublimación</c:v>
                </c:pt>
                <c:pt idx="6">
                  <c:v>Armado de mesa / papel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7</c:v>
                </c:pt>
                <c:pt idx="3">
                  <c:v>7</c:v>
                </c:pt>
                <c:pt idx="4">
                  <c:v>7</c:v>
                </c:pt>
                <c:pt idx="5">
                  <c:v>12</c:v>
                </c:pt>
                <c:pt idx="6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Agosto</c:v>
                </c:pt>
              </c:strCache>
            </c:strRef>
          </c:tx>
          <c:spPr>
            <a:solidFill>
              <a:srgbClr val="5A5A5A"/>
            </a:solidFill>
          </c:spPr>
          <c:dLbls>
            <c:txPr>
              <a:bodyPr/>
              <a:lstStyle/>
              <a:p>
                <a:pPr>
                  <a:defRPr sz="850" b="1">
                    <a:solidFill>
                      <a:srgbClr val="9A9A9A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Faltó impresión</c:v>
                </c:pt>
                <c:pt idx="1">
                  <c:v>Confección</c:v>
                </c:pt>
                <c:pt idx="2">
                  <c:v>Diseño / ficha</c:v>
                </c:pt>
                <c:pt idx="3">
                  <c:v>Corte</c:v>
                </c:pt>
                <c:pt idx="4">
                  <c:v>Pendientes en taller</c:v>
                </c:pt>
                <c:pt idx="5">
                  <c:v>Sublimación</c:v>
                </c:pt>
                <c:pt idx="6">
                  <c:v>Armado de mesa / papel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4</c:v>
                </c:pt>
                <c:pt idx="4">
                  <c:v>12</c:v>
                </c:pt>
                <c:pt idx="5">
                  <c:v>12</c:v>
                </c:pt>
                <c:pt idx="6">
                  <c:v>15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900">
                <a:solidFill>
                  <a:srgbClr val="D0D0D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9A9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reproceso</c:v>
                </c:pt>
              </c:strCache>
            </c:strRef>
          </c:tx>
          <c:dPt>
            <c:idx val="0"/>
            <c:spPr>
              <a:solidFill>
                <a:srgbClr val="4A4A4A"/>
              </a:solidFill>
            </c:spPr>
          </c:dPt>
          <c:dPt>
            <c:idx val="1"/>
            <c:spPr>
              <a:solidFill>
                <a:srgbClr val="4A4A4A"/>
              </a:solidFill>
            </c:spPr>
          </c:dPt>
          <c:dPt>
            <c:idx val="2"/>
            <c:spPr>
              <a:solidFill>
                <a:srgbClr val="4A4A4A"/>
              </a:solidFill>
            </c:spPr>
          </c:dPt>
          <c:dPt>
            <c:idx val="3"/>
            <c:spPr>
              <a:solidFill>
                <a:srgbClr val="4A4A4A"/>
              </a:solidFill>
            </c:spPr>
          </c:dPt>
          <c:dPt>
            <c:idx val="4"/>
            <c:spPr>
              <a:solidFill>
                <a:srgbClr val="1B7F4A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9A9A9A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9A9A9A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9A9A9A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9A9A9A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27AE6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000" b="1">
                    <a:solidFill>
                      <a:srgbClr val="D0D0D0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MAY</c:v>
                </c:pt>
                <c:pt idx="1">
                  <c:v>JUN</c:v>
                </c:pt>
                <c:pt idx="2">
                  <c:v>JUL*</c:v>
                </c:pt>
                <c:pt idx="3">
                  <c:v>AGO</c:v>
                </c:pt>
                <c:pt idx="4">
                  <c:v>SEP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6.6</c:v>
                </c:pt>
                <c:pt idx="1">
                  <c:v>7.4</c:v>
                </c:pt>
                <c:pt idx="2">
                  <c:v>11.4</c:v>
                </c:pt>
                <c:pt idx="3">
                  <c:v>13.9</c:v>
                </c:pt>
                <c:pt idx="4">
                  <c:v>5.7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950" b="1">
                <a:solidFill>
                  <a:srgbClr val="9A9A9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9A9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pregunta. Contar el orden: primero los números que medimos y cómo venimos, después lo que pasó en septiembre, y el resultado se muestra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el indicador: metros reprocesados dividido por el total impreso. No mide a personas, mide el proceso. Semáforo: verde bajo 7%, naranja 7–10%, rojo sobre 10%. La meta para diciembre es 5%: 1 de cada 20 metros.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la tabla. Mayo y junio estuvieron cerca del verde; julio y agosto pasaron a rojo. Agosto: de cada 100 metros, 14 eran para repetir. Septiembre lo dejamos para el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agosto se definió una meta por mes: septiembre ≤11%, octubre ≤8%, noviembre ≤6% y diciembre ≤5%. Septiembre era el primer paso. Dejar la pregunta abierta.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Septiembre fue el mes con más producción (2.098 m) y aun así hubo menos pedidos que en agosto (51 vs 57). Comentar qué etapas bajaron y cuáles subieron, hablando de procesos y no de personas. Sublimación es el foco de octubre.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Revelar: septiembre cerró en 5,7%. La meta del mes era ≤11%: se cumplió con holgura. Repetimos 127 m contra 279 m de agosto, en el mes de mayor producción. Próxima meta: octubre ≤8%.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DE ESTE MES: MEJORA (13,9% → 5,7%). El mensaje aparece con un clic.</a:t>
            </a:r>
          </a:p>
          <a:p/>
          <a:p>
            <a:r>
              <a:t>CÓMO ELEGIR EL MENSAJE CADA MES (comparar el % de reproceso con el mes anterior):</a:t>
            </a:r>
          </a:p>
          <a:p>
            <a:r>
              <a:t>• MEJORÓ (bajó 0,5 puntos o más) → felicitar (panel verde): "¡Felicitaciones, equipo! … Este logro es de todos."</a:t>
            </a:r>
          </a:p>
          <a:p>
            <a:r>
              <a:t>• SE MANTUVO (cambio menor a 0,5 puntos) → invitar a mejorar (panel naranja): "Mantuvimos el nivel. Vamos por más. El siguiente paso está en los detalles: revisar el papel antes de sublimar."</a:t>
            </a:r>
          </a:p>
          <a:p>
            <a:r>
              <a:t>• NO FUE LO ESPERADO (subió más de 0,5 puntos) → reflexión constructiva (panel azul): "Este mes nos costó, y está bien decirlo. Cada error nos muestra dónde mejorar: miremos juntos las causas. Confiamos en este equipo."</a:t>
            </a:r>
          </a:p>
          <a:p/>
          <a:p>
            <a:r>
              <a:t>NO SE MUESTRA AL EQUIPO: costos en pesos, ventas, nombres asociados a errores ni detalles de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D6C23"/>
                </a:solidFill>
                <a:latin typeface="Arial"/>
              </a:rPr>
              <a:t>EQUIPO PRODUCCIÓN  ·  PLAYMAKER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8321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¿CÓMO NOS FUE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EN SEPTIEMBRE?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8803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9A9A9A"/>
                </a:solidFill>
                <a:latin typeface="Arial"/>
              </a:rPr>
              <a:t>Revisión mensual de calidad de producción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5120640" cy="7772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93008"/>
            <a:ext cx="48463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0D0D0"/>
                </a:solidFill>
                <a:latin typeface="Arial"/>
              </a:rPr>
              <a:t>Hoy:  qué medimos  →  cómo venimos  →  qué pasó en septiembre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0D0D0"/>
                </a:solidFill>
                <a:latin typeface="Arial"/>
              </a:rPr>
              <a:t>y al final, </a:t>
            </a:r>
            <a:r>
              <a:rPr sz="1100" b="1" i="0">
                <a:solidFill>
                  <a:srgbClr val="ED6C23"/>
                </a:solidFill>
                <a:latin typeface="Arial"/>
              </a:rPr>
              <a:t>el resultado.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262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ED6C23"/>
                </a:solidFill>
                <a:latin typeface="Arial"/>
              </a:rPr>
              <a:t>UN CLUB, UNA FAMILIA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7548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9A9A9A"/>
                </a:solidFill>
                <a:latin typeface="Arial"/>
              </a:rPr>
              <a:t>www.playmaker.cl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7432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1 · QUÉ ESTAMOS MIDIENDO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EL NÚMERO QUE SEGUIMOS CADA 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7731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>
                <a:solidFill>
                  <a:srgbClr val="9A9A9A"/>
                </a:solidFill>
                <a:latin typeface="Arial"/>
              </a:rPr>
              <a:t>EQUIPO PRODUCCIÓN  ·  SEPTIEMBRE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2331720" cy="96012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2331720" cy="54864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99032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METROS REPROCESADOS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733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Lo que tuvimos que volver a imprimir en el 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34440"/>
            <a:ext cx="2697480" cy="96012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234440"/>
            <a:ext cx="269748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39903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TOTAL IMPRESO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673352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Metros de producción + metros reprocesados.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34440"/>
            <a:ext cx="2514600" cy="96012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2514600" cy="54864"/>
          </a:xfrm>
          <a:prstGeom prst="rect">
            <a:avLst/>
          </a:prstGeom>
          <a:solidFill>
            <a:srgbClr val="1B7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39903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% DE REPROCESO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7335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De cada 100 metros que imprimimos, cuántos fueron para repetir.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ED6C23"/>
                </a:solidFill>
                <a:latin typeface="Arial"/>
              </a:rPr>
              <a:t>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ED6C23"/>
                </a:solidFill>
                <a:latin typeface="Arial"/>
              </a:rPr>
              <a:t>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331720"/>
            <a:ext cx="8366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9A9A9A"/>
                </a:solidFill>
                <a:latin typeface="Arial"/>
              </a:rPr>
              <a:t>Ejemplo: si en un mes imprimimos 100 metros y 6 fueron para repetir, el reproceso es 6%.  Los datos salen del Control de Ploteo.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72491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D6C23"/>
                </a:solidFill>
                <a:latin typeface="Arial"/>
              </a:rPr>
              <a:t>CÓMO LEER EL RESULTADO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9232"/>
            <a:ext cx="1783080" cy="566928"/>
          </a:xfrm>
          <a:prstGeom prst="rect">
            <a:avLst/>
          </a:prstGeom>
          <a:solidFill>
            <a:srgbClr val="1B7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3044952"/>
            <a:ext cx="15636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VERDE</a:t>
            </a:r>
          </a:p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menos de 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2999232"/>
            <a:ext cx="1783080" cy="566928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3044952"/>
            <a:ext cx="15636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NARANJA</a:t>
            </a:r>
          </a:p>
          <a:p>
            <a:pPr algn="l"/>
            <a:r>
              <a:rPr sz="950" b="0" i="0">
                <a:solidFill>
                  <a:srgbClr val="000000"/>
                </a:solidFill>
                <a:latin typeface="Arial"/>
              </a:rPr>
              <a:t>entre 7% y 10%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2999232"/>
            <a:ext cx="1783080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248" y="3044952"/>
            <a:ext cx="15636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ROJO</a:t>
            </a:r>
          </a:p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más de 10%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999232"/>
            <a:ext cx="2697480" cy="566928"/>
          </a:xfrm>
          <a:prstGeom prst="rect">
            <a:avLst/>
          </a:prstGeom>
          <a:solidFill>
            <a:srgbClr val="2D2D2D"/>
          </a:solidFill>
          <a:ln w="12700">
            <a:solidFill>
              <a:srgbClr val="ED6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3044952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D6C23"/>
                </a:solidFill>
                <a:latin typeface="Arial"/>
              </a:rPr>
              <a:t>META DICIEMBRE: 5%</a:t>
            </a:r>
          </a:p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1 de cada 20 metros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94760"/>
            <a:ext cx="8366760" cy="7772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8620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Y ADEMÁS: </a:t>
            </a:r>
            <a:r>
              <a:rPr sz="1050" b="0" i="0">
                <a:solidFill>
                  <a:srgbClr val="D0D0D0"/>
                </a:solidFill>
                <a:latin typeface="Arial"/>
              </a:rPr>
              <a:t>contamos cada pedido de reimpresión del chat PENDIENTES PMK y en qué etapa nació el error (armado de mesa, sublimación, corte, confección, diseño). Eso nos dice dónde mirar.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7432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2 · CÓMO VENIMOS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EL HISTORIAL, MES A 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7731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>
                <a:solidFill>
                  <a:srgbClr val="9A9A9A"/>
                </a:solidFill>
                <a:latin typeface="Arial"/>
              </a:rPr>
              <a:t>EQUIPO PRODUCCIÓN  ·  SEPTIEMBRE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8366760" cy="384048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188720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METROS IMPRESOS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18872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METROS REPROCESADOS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18872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% REPROCESO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188720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0000"/>
                </a:solidFill>
                <a:latin typeface="Arial"/>
              </a:rPr>
              <a:t>PEDIDOS EN EL CHAT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627632"/>
            <a:ext cx="8366760" cy="402336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27632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MAYO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1627632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1.890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1627632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133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1627632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Arial"/>
              </a:rPr>
              <a:t>6,6%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627632"/>
            <a:ext cx="1645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066544"/>
            <a:ext cx="836676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066544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JUNIO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2066544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1.864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2066544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149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066544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ED6C23"/>
                </a:solidFill>
                <a:latin typeface="Arial"/>
              </a:rPr>
              <a:t>7,4%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066544"/>
            <a:ext cx="1645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55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505456"/>
            <a:ext cx="8366760" cy="402336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505456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JULIO*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2505456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1.901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2505456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245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50545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  <a:latin typeface="Arial"/>
              </a:rPr>
              <a:t>11,4%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505456"/>
            <a:ext cx="1645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44368"/>
            <a:ext cx="836676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944368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AGOSTO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944368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1.722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944368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279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2944368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  <a:latin typeface="Arial"/>
              </a:rPr>
              <a:t>13,9%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2944368"/>
            <a:ext cx="1645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D0D0D0"/>
                </a:solidFill>
                <a:latin typeface="Arial"/>
              </a:rPr>
              <a:t>57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383280"/>
            <a:ext cx="8366760" cy="402336"/>
          </a:xfrm>
          <a:prstGeom prst="rect">
            <a:avLst/>
          </a:prstGeom>
          <a:noFill/>
          <a:ln w="15875">
            <a:solidFill>
              <a:srgbClr val="ED6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383280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D6C23"/>
                </a:solidFill>
                <a:latin typeface="Arial"/>
              </a:rPr>
              <a:t>SEPTIEMBRE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3383280"/>
            <a:ext cx="1508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D6C23"/>
                </a:solidFill>
                <a:latin typeface="Arial"/>
              </a:rPr>
              <a:t>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3383280"/>
            <a:ext cx="1600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D6C23"/>
                </a:solidFill>
                <a:latin typeface="Arial"/>
              </a:rPr>
              <a:t>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383280"/>
            <a:ext cx="14630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D6C23"/>
                </a:solidFill>
                <a:latin typeface="Arial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383280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D6C23"/>
                </a:solidFill>
                <a:latin typeface="Arial"/>
              </a:rPr>
              <a:t>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3986784"/>
            <a:ext cx="8366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En 4 meses el reproceso se duplicó: </a:t>
            </a:r>
            <a:r>
              <a:rPr sz="1100" b="0" i="0">
                <a:solidFill>
                  <a:srgbClr val="D0D0D0"/>
                </a:solidFill>
                <a:latin typeface="Arial"/>
              </a:rPr>
              <a:t>de 6,6% en mayo a 13,9% en agosto. Los metros repetidos pasaron de 133 a 279 al mes. Septiembre, al final.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455371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9A9A9A"/>
                </a:solidFill>
                <a:latin typeface="Arial"/>
              </a:rPr>
              <a:t>* Julio estimado (el registro de ploteo de ese mes quedó incompleto).  Mayo: el chat de pendientes comenzó el 19-may.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7432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3 · LA META QUE NOS PUSIMOS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DESPUÉS DE AGOSTO, UNA HOJA DE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7731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>
                <a:solidFill>
                  <a:srgbClr val="9A9A9A"/>
                </a:solidFill>
                <a:latin typeface="Arial"/>
              </a:rPr>
              <a:t>EQUIPO PRODUCCIÓN  ·  SEPTIEMBRE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9A9A"/>
                </a:solidFill>
                <a:latin typeface="Arial"/>
              </a:rPr>
              <a:t>% DE REPROCESO REAL (MAY–AGO) Y METAS (SEP–DIC)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325880"/>
          <a:ext cx="539496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55371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9A9A9A"/>
                </a:solidFill>
                <a:latin typeface="Arial"/>
              </a:rPr>
              <a:t>* Julio estimado.  Barras con borde = meta del 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188720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Bajar mes a mes hasta llegar al 5% en diciembre.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2057400"/>
            <a:ext cx="2880360" cy="3657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057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SEPTIEMBRE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0574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1" i="0">
                <a:solidFill>
                  <a:srgbClr val="ED6C23"/>
                </a:solidFill>
                <a:latin typeface="Arial"/>
              </a:rPr>
              <a:t>≤11%  ·  ≤235 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2487168"/>
            <a:ext cx="2880360" cy="3657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4871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OCTUBRE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487168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1" i="0">
                <a:solidFill>
                  <a:srgbClr val="ED6C23"/>
                </a:solidFill>
                <a:latin typeface="Arial"/>
              </a:rPr>
              <a:t>≤8%  ·  ≤165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2916936"/>
            <a:ext cx="2880360" cy="3657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2916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NOVIEMBRE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916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1" i="0">
                <a:solidFill>
                  <a:srgbClr val="ED6C23"/>
                </a:solidFill>
                <a:latin typeface="Arial"/>
              </a:rPr>
              <a:t>≤6%  ·  ≤121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3346704"/>
            <a:ext cx="2880360" cy="36576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3467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DICIEMBRE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346704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1" i="0">
                <a:solidFill>
                  <a:srgbClr val="000000"/>
                </a:solidFill>
                <a:latin typeface="Arial"/>
              </a:rPr>
              <a:t>≤5%  ·  ≤100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3858768"/>
            <a:ext cx="2880360" cy="640080"/>
          </a:xfrm>
          <a:prstGeom prst="rect">
            <a:avLst/>
          </a:prstGeom>
          <a:solidFill>
            <a:srgbClr val="1E1E1E"/>
          </a:solidFill>
          <a:ln w="12700">
            <a:solidFill>
              <a:srgbClr val="ED6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3858768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Septiembre era la primera prueba:</a:t>
            </a:r>
          </a:p>
          <a:p>
            <a:pPr algn="l"/>
            <a:r>
              <a:rPr sz="1300" b="1" i="0">
                <a:solidFill>
                  <a:srgbClr val="ED6C23"/>
                </a:solidFill>
                <a:latin typeface="Arial"/>
              </a:rPr>
              <a:t>¿lo logramos?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7432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4 · QUÉ PASÓ EN SEPTIEMBRE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SEPTIEMBRE EN NÚMEROS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7731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>
                <a:solidFill>
                  <a:srgbClr val="9A9A9A"/>
                </a:solidFill>
                <a:latin typeface="Arial"/>
              </a:rPr>
              <a:t>EQUIPO PRODUCCIÓN  ·  SEPTIEMBRE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2377440" cy="96012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2.098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D0D0D0"/>
                </a:solidFill>
                <a:latin typeface="Arial"/>
              </a:rPr>
              <a:t>impresos: el mes de mayor producción desde mayo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143000"/>
            <a:ext cx="2377440" cy="96012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20700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D6C23"/>
                </a:solidFill>
                <a:latin typeface="Arial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66420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D0D0D0"/>
                </a:solidFill>
                <a:latin typeface="Arial"/>
              </a:rPr>
              <a:t>pedidos de reimpresión en el chat (57 en agosto)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2402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9A9A"/>
                </a:solidFill>
                <a:latin typeface="Arial"/>
              </a:rPr>
              <a:t>¿EN QUÉ ETAPA NACIÓ CADA PEDIDO?  </a:t>
            </a:r>
            <a:r>
              <a:rPr sz="900" b="1" i="0">
                <a:solidFill>
                  <a:srgbClr val="8A8A8A"/>
                </a:solidFill>
                <a:latin typeface="Arial"/>
              </a:rPr>
              <a:t>agosto</a:t>
            </a:r>
            <a:r>
              <a:rPr sz="900" b="1" i="0">
                <a:solidFill>
                  <a:srgbClr val="9A9A9A"/>
                </a:solidFill>
                <a:latin typeface="Arial"/>
              </a:rPr>
              <a:t>  vs  </a:t>
            </a:r>
            <a:r>
              <a:rPr sz="900" b="1" i="0">
                <a:solidFill>
                  <a:srgbClr val="ED6C23"/>
                </a:solidFill>
                <a:latin typeface="Arial"/>
              </a:rPr>
              <a:t>septiembre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274320" y="2450592"/>
          <a:ext cx="5120640" cy="21214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23560" y="1143000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D6C23"/>
                </a:solidFill>
                <a:latin typeface="Arial"/>
              </a:rPr>
              <a:t>LO QUE NOS DICEN LOS NÚMEROS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1463040"/>
            <a:ext cx="3154680" cy="84124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15544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Arial"/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8" y="155448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Arial"/>
              </a:rPr>
              <a:t>BAJARON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1792224"/>
            <a:ext cx="2587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Armado de mesa / papel (15 → 10), pendientes en taller (12 → 7) y faltó impresión (5 → 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395728"/>
            <a:ext cx="3154680" cy="84124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3288" y="248716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Arial"/>
              </a:rPr>
              <a:t>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24871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  <a:latin typeface="Arial"/>
              </a:rPr>
              <a:t>SUBIERON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724912"/>
            <a:ext cx="2587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Corte (4 → 7), diseño / ficha (5 → 7) y confección (4 → 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23560" y="3328416"/>
            <a:ext cx="3154680" cy="84124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3288" y="341985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D6C23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419856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D6C23"/>
                </a:solidFill>
                <a:latin typeface="Arial"/>
              </a:rPr>
              <a:t>SE MANTUVO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9048" y="3657600"/>
            <a:ext cx="2587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Sublimación sigue en 12: es la etapa con más casos y el foco de octubre.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315968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Más trabajo, menos pedidos. ¿Y el resultado?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7432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D6C23"/>
                </a:solidFill>
                <a:latin typeface="Arial"/>
              </a:rPr>
              <a:t>5 · EL RESULTADO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¿Y CÓMO TERMINÓ SEPTIEMBRE?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7731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>
                <a:solidFill>
                  <a:srgbClr val="9A9A9A"/>
                </a:solidFill>
                <a:latin typeface="Arial"/>
              </a:rPr>
              <a:t>EQUIPO PRODUCCIÓN  ·  SEPTIEMBRE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27AE60"/>
                </a:solidFill>
                <a:latin typeface="Arial"/>
              </a:rPr>
              <a:t>5,7%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61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DE REPROCESO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27632"/>
            <a:ext cx="2057400" cy="329184"/>
          </a:xfrm>
          <a:prstGeom prst="rect">
            <a:avLst/>
          </a:prstGeom>
          <a:solidFill>
            <a:srgbClr val="1B7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META ≤11%  ✓  CUMPLIDA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7627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0D0D0"/>
                </a:solidFill>
                <a:latin typeface="Arial"/>
              </a:rPr>
              <a:t>De cada 100 metros, menos de 6 fueron para repetir. En agosto eran 14.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74320" y="2560320"/>
          <a:ext cx="530352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1480" y="455371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9A9A9A"/>
                </a:solidFill>
                <a:latin typeface="Arial"/>
              </a:rPr>
              <a:t>* Julio estimado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097280"/>
            <a:ext cx="2926080" cy="10058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1188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7AE60"/>
                </a:solidFill>
                <a:latin typeface="Arial"/>
              </a:rPr>
              <a:t>127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64592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repetidos en el mes (279 m en agosto): menos de la mitad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2212848"/>
            <a:ext cx="2926080" cy="10058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16752" y="230428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2.098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76148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impresos: el mes de mayor producción desde mayo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328416"/>
            <a:ext cx="2926080" cy="10058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16752" y="341985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ED6C23"/>
                </a:solidFill>
                <a:latin typeface="Arial"/>
              </a:rPr>
              <a:t>≤8%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6752" y="387705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0D0D0"/>
                </a:solidFill>
                <a:latin typeface="Arial"/>
              </a:rPr>
              <a:t>próxima meta: octubre (≤165 m de reproceso)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868680"/>
            <a:ext cx="7589520" cy="2697480"/>
          </a:xfrm>
          <a:prstGeom prst="rect">
            <a:avLst/>
          </a:prstGeom>
          <a:solidFill>
            <a:srgbClr val="1B7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0" bIns="0"/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¡FELICITACIONES, EQUIPO!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En un mes bajamos el reproceso a menos de la mitad.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Este logro es de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9476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D6C23"/>
                </a:solidFill>
                <a:latin typeface="Arial"/>
              </a:rPr>
              <a:t>PRÓXIMO DESAFÍO: OCTUBRE ≤8%   ·   VAMOS JUNTOS POR EL 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43400"/>
            <a:ext cx="7589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9A9A9A"/>
                </a:solidFill>
                <a:latin typeface="Arial"/>
              </a:rPr>
              <a:t>UN CLUB, UNA FAMILIA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PMK Equipo Producción — Septiembre 2026</dc:title>
  <dc:subject>PptxGenJS Presentation</dc:subject>
  <dc:creator>PptxGenJS</dc:creator>
  <cp:lastModifiedBy>PptxGenJS</cp:lastModifiedBy>
  <cp:revision>1</cp:revision>
  <dcterms:created xsi:type="dcterms:W3CDTF">2026-08-31T13:07:26Z</dcterms:created>
  <dcterms:modified xsi:type="dcterms:W3CDTF">2026-08-31T13:07:26Z</dcterms:modified>
</cp:coreProperties>
</file>