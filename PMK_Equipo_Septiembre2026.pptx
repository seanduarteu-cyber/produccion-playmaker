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reproceso</c:v>
                </c:pt>
              </c:strCache>
            </c:strRef>
          </c:tx>
          <c:spPr>
            <a:solidFill>
              <a:srgbClr val="4A4A4A"/>
            </a:solidFill>
          </c:spPr>
          <c:dPt>
            <c:idx val="4"/>
            <c:spPr>
              <a:solidFill>
                <a:srgbClr val="27AE60"/>
              </a:solidFill>
            </c:spPr>
          </c:dPt>
          <c:dLbls>
            <c:dLbl>
              <c:idx val="4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27AE6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D0D0D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MAY</c:v>
                </c:pt>
                <c:pt idx="1">
                  <c:v>JUN</c:v>
                </c:pt>
                <c:pt idx="2">
                  <c:v>JUL*</c:v>
                </c:pt>
                <c:pt idx="3">
                  <c:v>AGO</c:v>
                </c:pt>
                <c:pt idx="4">
                  <c:v>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6.6</c:v>
                </c:pt>
                <c:pt idx="1">
                  <c:v>7.4</c:v>
                </c:pt>
                <c:pt idx="2">
                  <c:v>11.4</c:v>
                </c:pt>
                <c:pt idx="3">
                  <c:v>13.9</c:v>
                </c:pt>
                <c:pt idx="4">
                  <c:v>5.7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900" b="1">
                <a:solidFill>
                  <a:srgbClr val="9A9A9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9A9A9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DE ESTE MES: MEJORA (13.9% → 5.7%).</a:t>
            </a:r>
          </a:p>
          <a:p/>
          <a:p>
            <a:r>
              <a:t>CÓMO ELEGIR LA FRASE FINAL CADA MES (comparar el % de reproceso con el mes anterior):</a:t>
            </a:r>
          </a:p>
          <a:p>
            <a:r>
              <a:t>• MEJORÓ (bajó 0,5 puntos o más) → felicitar: "¡Felicitaciones, equipo! … Este logro es de todos: ahora vamos juntos por la meta."</a:t>
            </a:r>
          </a:p>
          <a:p>
            <a:r>
              <a:t>• SE MANTUVO (cambio menor a 0,5 puntos) → invitar a mejorar: "Mantuvimos el nivel. El siguiente paso está en los detalles: revisemos el papel antes de sublimar y vamos juntos por la meta del próximo mes."</a:t>
            </a:r>
          </a:p>
          <a:p>
            <a:r>
              <a:t>• NO FUE LO ESPERADO (subió más de 0,5 puntos) → reflexión constructiva: "Este mes nos costó, y está bien decirlo. Cada error nos muestra dónde mejorar. Miremos juntos las causas y volvamos a la meta: confiamos en este equipo."</a:t>
            </a:r>
          </a:p>
          <a:p/>
          <a:p>
            <a:r>
              <a:t>IDEAS PARA COMENTAR: el resultado es del equipo completo; hablar de procesos (mesa, sublimación, corte), no de personas; pedir que cada reproceso indique la ETAPA (antes o después de sublimar) en el chat.</a:t>
            </a:r>
          </a:p>
          <a:p>
            <a:r>
              <a:t>NO SE MUESTRA AL EQUIPO: costos en pesos, ventas, nombres asociados a errores ni detalles de metodología.</a:t>
            </a:r>
          </a:p>
          <a:p>
            <a:r>
              <a:t>La frase final aparece con un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1" name="Shape 30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02" name="Shape 300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003" name="Shape 3003"/>
          <p:cNvSpPr/>
          <p:nvPr/>
        </p:nvSpPr>
        <p:spPr>
          <a:xfrm>
            <a:off x="109728" y="5070348"/>
            <a:ext cx="9034272" cy="7315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004" name="Shape 3004"/>
          <p:cNvSpPr txBox="1"/>
          <p:nvPr/>
        </p:nvSpPr>
        <p:spPr>
          <a:xfrm>
            <a:off x="36576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PRODUCCIÓN  ·  SEPTIEMBRE 2026</a:t>
            </a:r>
            <a:endParaRPr lang="en-US" sz="1600" dirty="0"/>
          </a:p>
        </p:txBody>
      </p:sp>
      <p:sp>
        <p:nvSpPr>
          <p:cNvPr id="3005" name="Shape 3005"/>
          <p:cNvSpPr txBox="1"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NOS FUE ESTE MES?</a:t>
            </a:r>
            <a:endParaRPr lang="en-US" sz="5200" dirty="0"/>
          </a:p>
        </p:txBody>
      </p:sp>
      <p:sp>
        <p:nvSpPr>
          <p:cNvPr id="3006" name="Shape 3006"/>
          <p:cNvSpPr txBox="1"/>
          <p:nvPr/>
        </p:nvSpPr>
        <p:spPr>
          <a:xfrm>
            <a:off x="365760" y="10241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5,7%</a:t>
            </a:r>
            <a:endParaRPr lang="en-US" sz="2200" dirty="0"/>
          </a:p>
        </p:txBody>
      </p:sp>
      <p:sp>
        <p:nvSpPr>
          <p:cNvPr id="3007" name="Shape 3007"/>
          <p:cNvSpPr txBox="1"/>
          <p:nvPr/>
        </p:nvSpPr>
        <p:spPr>
          <a:xfrm>
            <a:off x="2395728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REPROCESO</a:t>
            </a:r>
            <a:endParaRPr lang="en-US" sz="7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del mes: ≤11%  ✓</a:t>
            </a:r>
            <a:endParaRPr lang="en-US" sz="750" dirty="0"/>
          </a:p>
        </p:txBody>
      </p:sp>
      <p:sp>
        <p:nvSpPr>
          <p:cNvPr id="3008" name="Shape 3008"/>
          <p:cNvSpPr txBox="1"/>
          <p:nvPr/>
        </p:nvSpPr>
        <p:spPr>
          <a:xfrm>
            <a:off x="365760" y="18836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100 metros que imprimimos, menos de 6 fueron para repetir. En agosto eran 14.</a:t>
            </a:r>
            <a:endParaRPr lang="en-US" sz="800" dirty="0"/>
          </a:p>
        </p:txBody>
      </p:sp>
      <p:sp>
        <p:nvSpPr>
          <p:cNvPr id="3009" name="Shape 3009"/>
          <p:cNvSpPr txBox="1"/>
          <p:nvPr/>
        </p:nvSpPr>
        <p:spPr>
          <a:xfrm>
            <a:off x="365760" y="2377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REPROCESO POR MES</a:t>
            </a:r>
            <a:endParaRPr lang="en-US" sz="750" dirty="0"/>
          </a:p>
        </p:txBody>
      </p:sp>
      <p:graphicFrame>
        <p:nvGraphicFramePr>
          <p:cNvPr id="3010" name="Chart 3009"/>
          <p:cNvGraphicFramePr>
            <a:graphicFrameLocks noGrp="1"/>
          </p:cNvGraphicFramePr>
          <p:nvPr/>
        </p:nvGraphicFramePr>
        <p:xfrm>
          <a:off x="274320" y="2542032"/>
          <a:ext cx="4069080" cy="1645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10" name="Shape 3010"/>
          <p:cNvSpPr txBox="1"/>
          <p:nvPr/>
        </p:nvSpPr>
        <p:spPr>
          <a:xfrm>
            <a:off x="365760" y="41330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Julio estimado</a:t>
            </a:r>
            <a:endParaRPr lang="en-US" sz="700" dirty="0"/>
          </a:p>
        </p:txBody>
      </p:sp>
      <p:sp>
        <p:nvSpPr>
          <p:cNvPr id="3011" name="Shape 3011"/>
          <p:cNvSpPr/>
          <p:nvPr/>
        </p:nvSpPr>
        <p:spPr>
          <a:xfrm>
            <a:off x="4572000" y="1024128"/>
            <a:ext cx="4224528" cy="98755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p/>
        </p:txBody>
      </p:sp>
      <p:sp>
        <p:nvSpPr>
          <p:cNvPr id="3012" name="Shape 3012"/>
          <p:cNvSpPr/>
          <p:nvPr/>
        </p:nvSpPr>
        <p:spPr>
          <a:xfrm>
            <a:off x="4572000" y="1024128"/>
            <a:ext cx="4224528" cy="45720"/>
          </a:xfrm>
          <a:prstGeom prst="rect">
            <a:avLst/>
          </a:prstGeom>
          <a:solidFill>
            <a:srgbClr val="1B7F4A"/>
          </a:solidFill>
          <a:ln/>
        </p:spPr>
        <p:txBody>
          <a:bodyPr/>
          <a:p/>
        </p:txBody>
      </p:sp>
      <p:sp>
        <p:nvSpPr>
          <p:cNvPr id="3013" name="Shape 3013"/>
          <p:cNvSpPr txBox="1"/>
          <p:nvPr/>
        </p:nvSpPr>
        <p:spPr>
          <a:xfrm>
            <a:off x="4718304" y="1133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HICIMOS BIEN</a:t>
            </a:r>
            <a:endParaRPr lang="en-US" sz="750" dirty="0"/>
          </a:p>
        </p:txBody>
      </p:sp>
      <p:sp>
        <p:nvSpPr>
          <p:cNvPr id="3014" name="Shape 3014"/>
          <p:cNvSpPr txBox="1"/>
          <p:nvPr/>
        </p:nvSpPr>
        <p:spPr>
          <a:xfrm>
            <a:off x="4718304" y="13716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Repetimos 127 m: menos de la mitad que en agosto (279 m).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Fue el mes de mayor producción: 2.098 m impresos.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Cumplimos la meta del mes (≤11%) con holgura.</a:t>
            </a:r>
            <a:endParaRPr lang="en-US" sz="800" dirty="0"/>
          </a:p>
        </p:txBody>
      </p:sp>
      <p:sp>
        <p:nvSpPr>
          <p:cNvPr id="3015" name="Shape 3015"/>
          <p:cNvSpPr/>
          <p:nvPr/>
        </p:nvSpPr>
        <p:spPr>
          <a:xfrm>
            <a:off x="4572000" y="2121408"/>
            <a:ext cx="4224528" cy="1499616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p/>
        </p:txBody>
      </p:sp>
      <p:sp>
        <p:nvSpPr>
          <p:cNvPr id="3016" name="Shape 3016"/>
          <p:cNvSpPr/>
          <p:nvPr/>
        </p:nvSpPr>
        <p:spPr>
          <a:xfrm>
            <a:off x="4572000" y="2121408"/>
            <a:ext cx="4224528" cy="45720"/>
          </a:xfrm>
          <a:prstGeom prst="rect">
            <a:avLst/>
          </a:prstGeom>
          <a:solidFill>
            <a:srgbClr val="ED6C23"/>
          </a:solidFill>
          <a:ln/>
        </p:spPr>
        <p:txBody>
          <a:bodyPr/>
          <a:p/>
        </p:txBody>
      </p:sp>
      <p:sp>
        <p:nvSpPr>
          <p:cNvPr id="3017" name="Shape 3017"/>
          <p:cNvSpPr txBox="1"/>
          <p:nvPr/>
        </p:nvSpPr>
        <p:spPr>
          <a:xfrm>
            <a:off x="4718304" y="2231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SIGUIENTE PASO</a:t>
            </a:r>
            <a:endParaRPr lang="en-US" sz="750" dirty="0"/>
          </a:p>
        </p:txBody>
      </p:sp>
      <p:sp>
        <p:nvSpPr>
          <p:cNvPr id="3018" name="Shape 3018"/>
          <p:cNvSpPr txBox="1"/>
          <p:nvPr/>
        </p:nvSpPr>
        <p:spPr>
          <a:xfrm>
            <a:off x="4718304" y="2468880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Aún hubo 51 pedidos de reimpresión (57 en agosto): los errores son más chicos, pero siguen apareciendo.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Foco de octubre: sublimación (12 casos) y armado de mesa / papel (10 casos).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Revisar el papel antes de sublimar: si el error se ve ahí, no perdemos tela ni calandra.</a:t>
            </a:r>
            <a:endParaRPr lang="en-US" sz="800" dirty="0"/>
          </a:p>
        </p:txBody>
      </p:sp>
      <p:sp>
        <p:nvSpPr>
          <p:cNvPr id="3019" name="Shape 3019"/>
          <p:cNvSpPr/>
          <p:nvPr/>
        </p:nvSpPr>
        <p:spPr>
          <a:xfrm>
            <a:off x="4572000" y="3730752"/>
            <a:ext cx="4224528" cy="40233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020" name="Shape 3020"/>
          <p:cNvSpPr txBox="1"/>
          <p:nvPr/>
        </p:nvSpPr>
        <p:spPr>
          <a:xfrm>
            <a:off x="4663440" y="37581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OCTUBRE:   ≤8%   ·   ≤165 m de reproceso</a:t>
            </a:r>
            <a:endParaRPr lang="en-US" sz="700" dirty="0"/>
          </a:p>
        </p:txBody>
      </p:sp>
      <p:sp>
        <p:nvSpPr>
          <p:cNvPr id="3021" name="Mensaje final"/>
          <p:cNvSpPr/>
          <p:nvPr/>
        </p:nvSpPr>
        <p:spPr>
          <a:xfrm>
            <a:off x="365760" y="4279392"/>
            <a:ext cx="8430768" cy="676656"/>
          </a:xfrm>
          <a:prstGeom prst="rect">
            <a:avLst/>
          </a:prstGeom>
          <a:solidFill>
            <a:srgbClr val="1B7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¡FELICITACIONES, EQUIPO!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En un mes bajamos el reproceso a menos de la mitad. Este logro es de todos: ahora vamos juntos por el 5%.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PMK Equipo Producción — Septiembre 2026</dc:title>
  <dc:subject>PptxGenJS Presentation</dc:subject>
  <dc:creator>PptxGenJS</dc:creator>
  <cp:lastModifiedBy>PptxGenJS</cp:lastModifiedBy>
  <cp:revision>1</cp:revision>
  <dcterms:created xsi:type="dcterms:W3CDTF">2026-08-31T13:07:26Z</dcterms:created>
  <dcterms:modified xsi:type="dcterms:W3CDTF">2026-08-31T13:07:26Z</dcterms:modified>
</cp:coreProperties>
</file>