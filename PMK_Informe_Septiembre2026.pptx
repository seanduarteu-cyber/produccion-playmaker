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14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(m)</c:v>
                </c:pt>
              </c:strCache>
            </c:strRef>
          </c:tx>
          <c:spPr>
            <a:solidFill>
              <a:srgbClr val="1B7F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MAY</c:v>
                  </c:pt>
                  <c:pt idx="1">
                    <c:v>JUN</c:v>
                  </c:pt>
                  <c:pt idx="2">
                    <c:v>JUL*</c:v>
                  </c:pt>
                  <c:pt idx="3">
                    <c:v>AGO</c:v>
                  </c:pt>
                  <c:pt idx="4">
                    <c:v>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1890</c:v>
                </c:pt>
                <c:pt idx="1">
                  <c:v>1864</c:v>
                </c:pt>
                <c:pt idx="2">
                  <c:v>1901</c:v>
                </c:pt>
                <c:pt idx="3">
                  <c:v>1722</c:v>
                </c:pt>
                <c:pt idx="4">
                  <c:v>2098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Reproceso (m)</c:v>
                </c:pt>
              </c:strCache>
            </c:strRef>
          </c:tx>
          <c:spPr>
            <a:solidFill>
              <a:srgbClr val="ED6C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MAY</c:v>
                  </c:pt>
                  <c:pt idx="1">
                    <c:v>JUN</c:v>
                  </c:pt>
                  <c:pt idx="2">
                    <c:v>JUL*</c:v>
                  </c:pt>
                  <c:pt idx="3">
                    <c:v>AGO</c:v>
                  </c:pt>
                  <c:pt idx="4">
                    <c:v>SEP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133</c:v>
                </c:pt>
                <c:pt idx="1">
                  <c:v>149</c:v>
                </c:pt>
                <c:pt idx="2">
                  <c:v>245</c:v>
                </c:pt>
                <c:pt idx="3">
                  <c:v>279</c:v>
                </c:pt>
                <c:pt idx="4">
                  <c:v>127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333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9A9A9A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9A9A9A"/>
                    </a:solidFill>
                    <a:latin typeface="Arial"/>
                  </a:rPr>
                  <a:t>Metros impresos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A9A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0000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Real / estimado</c:v>
                </c:pt>
              </c:strCache>
            </c:strRef>
          </c:tx>
          <c:spPr>
            <a:solidFill>
              <a:srgbClr val="FFFFFF"/>
            </a:solidFill>
            <a:ln w="25400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dLbl>
              <c:idx val="4"/>
              <c:numFmt formatCode="0.0" sourceLinked="0"/>
              <c:txPr>
                <a:bodyPr/>
                <a:lstStyle/>
                <a:p>
                  <a:pPr>
                    <a:defRPr b="1" i="0" strike="noStrike" sz="900" u="non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JUL*</c:v>
                  </c:pt>
                  <c:pt idx="3">
                    <c:v>AGO</c:v>
                  </c:pt>
                  <c:pt idx="4">
                    <c:v>SEP.</c:v>
                  </c:pt>
                  <c:pt idx="5">
                    <c:v>OCT.</c:v>
                  </c:pt>
                  <c:pt idx="6">
                    <c:v>NOV.</c:v>
                  </c:pt>
                  <c:pt idx="7">
                    <c:v>DIC.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6.6</c:v>
                </c:pt>
                <c:pt idx="1">
                  <c:v>7.4</c:v>
                </c:pt>
                <c:pt idx="2">
                  <c:v>11.4</c:v>
                </c:pt>
                <c:pt idx="3">
                  <c:v>13.9</c:v>
                </c:pt>
                <c:pt idx="4">
                  <c:v>5.7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mensual (hoja de ruta)</c:v>
                </c:pt>
              </c:strCache>
            </c:strRef>
          </c:tx>
          <c:spPr>
            <a:solidFill>
              <a:srgbClr val="2C5F8A"/>
            </a:solidFill>
            <a:ln w="25400" cap="flat">
              <a:solidFill>
                <a:srgbClr val="2C5F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C5F8A"/>
              </a:solidFill>
              <a:ln w="9525" cap="flat">
                <a:solidFill>
                  <a:srgbClr val="2C5F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JUL*</c:v>
                  </c:pt>
                  <c:pt idx="3">
                    <c:v>AGO</c:v>
                  </c:pt>
                  <c:pt idx="4">
                    <c:v>SEP.</c:v>
                  </c:pt>
                  <c:pt idx="5">
                    <c:v>OCT.</c:v>
                  </c:pt>
                  <c:pt idx="6">
                    <c:v>NOV.</c:v>
                  </c:pt>
                  <c:pt idx="7">
                    <c:v>DIC.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11</c:v>
                </c:pt>
                <c:pt idx="5">
                  <c:v>8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 ≤5%</c:v>
                </c:pt>
              </c:strCache>
            </c:strRef>
          </c:tx>
          <c:spPr>
            <a:solidFill>
              <a:srgbClr val="1B7F4A"/>
            </a:solidFill>
            <a:ln w="25400" cap="flat">
              <a:solidFill>
                <a:srgbClr val="1B7F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7F4A"/>
              </a:solidFill>
              <a:ln w="9525" cap="flat">
                <a:solidFill>
                  <a:srgbClr val="1B7F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JUL*</c:v>
                  </c:pt>
                  <c:pt idx="3">
                    <c:v>AGO</c:v>
                  </c:pt>
                  <c:pt idx="4">
                    <c:v>SEP.</c:v>
                  </c:pt>
                  <c:pt idx="5">
                    <c:v>OCT.</c:v>
                  </c:pt>
                  <c:pt idx="6">
                    <c:v>NOV.</c:v>
                  </c:pt>
                  <c:pt idx="7">
                    <c:v>DIC.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33333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9A9A9A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9A9A9A"/>
                    </a:solidFill>
                    <a:latin typeface="Arial"/>
                  </a:rPr>
                  <a:t>% reproceso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9A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0000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PLAYMAKER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INTEGRADO — PRODUCCIÓN VS. DEFECTOS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359152"/>
            <a:ext cx="4114800" cy="36576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Ploteo  +  Control de Defectos de Producción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27980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2026   |   Indicadores verificados contra chat WA   |   % = reproc/(prod+reproc)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3291840"/>
            <a:ext cx="5029200" cy="111556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" y="3291840"/>
            <a:ext cx="5029200" cy="5486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343814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 EVENTOS   •   1.045 PRENDAS   •   $5.416.332 CLP COSTO ESTIMADO</a:t>
            </a:r>
            <a:endParaRPr lang="en-US" sz="1050" dirty="0"/>
          </a:p>
        </p:txBody>
      </p:sp>
      <p:sp>
        <p:nvSpPr>
          <p:cNvPr id="1001" name="Text 10 copy 1001"/>
          <p:cNvSpPr txBox="1"/>
          <p:nvPr/>
        </p:nvSpPr>
        <p:spPr>
          <a:xfrm>
            <a:off x="502920" y="3913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SEPTIEMBRE: 5,7% REPROCESO (META ≤11% ✓)   •   127 m   •   51 EVENTOS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526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CLUB, UNA FAMILIA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7548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www.playmaker.cl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54864" cy="77724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228600" y="16459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28600" y="4754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reproceso = reproc ÷ (prod+reproc)  |  Costo: $6.000/m si ya se sublimó · $2.400/m si se frenó antes  |  Motivos verificados con chat WA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4592" y="868680"/>
            <a:ext cx="2103120" cy="98755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64592" y="868680"/>
            <a:ext cx="2103120" cy="4572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92608" y="97840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METROS REPROCESADOS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292608" y="116128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933 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" y="160020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may–sep (jul. estimado)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22576" y="868680"/>
            <a:ext cx="2103120" cy="98755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322576" y="868680"/>
            <a:ext cx="2103120" cy="4572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450592" y="97840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REPROCESO GLOBAL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2450592" y="116128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450592" y="160020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reproc/(prod+reproc)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80560" y="868680"/>
            <a:ext cx="2103120" cy="98755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480560" y="868680"/>
            <a:ext cx="2103120" cy="4572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608576" y="97840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DEFECTO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116128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160020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registros WhatsApp WA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638544" y="868680"/>
            <a:ext cx="2103120" cy="98755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868680"/>
            <a:ext cx="2103120" cy="4572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766560" y="97840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ESTIMADO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116128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160020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CLP may–sep · según etapa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64592" y="1956816"/>
            <a:ext cx="1417320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201168" y="1984248"/>
            <a:ext cx="1344168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581912" y="1956816"/>
            <a:ext cx="804672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618488" y="1984248"/>
            <a:ext cx="73152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MTS PROD.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386584" y="1956816"/>
            <a:ext cx="804672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2423160" y="1984248"/>
            <a:ext cx="73152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MTS REPROC.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191256" y="1956816"/>
            <a:ext cx="749808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3227832" y="1984248"/>
            <a:ext cx="6766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REPROC.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41064" y="1956816"/>
            <a:ext cx="667512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3977640" y="1984248"/>
            <a:ext cx="59436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08576" y="1956816"/>
            <a:ext cx="667512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4645152" y="1984248"/>
            <a:ext cx="59436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PRENDAS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276088" y="1956816"/>
            <a:ext cx="1417320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5312664" y="1984248"/>
            <a:ext cx="1344168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POR ETAPA**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6693408" y="1956816"/>
            <a:ext cx="1371600" cy="338785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42" name="Text 40"/>
          <p:cNvSpPr txBox="1"/>
          <p:nvPr/>
        </p:nvSpPr>
        <p:spPr>
          <a:xfrm>
            <a:off x="6729984" y="1984248"/>
            <a:ext cx="1298448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(P+R)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64592" y="2555748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192024" y="2592324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2026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581912" y="2555748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1609344" y="2592324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1.890m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386584" y="2555748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2414016" y="2592324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133m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191256" y="2555748"/>
            <a:ext cx="749808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50" name="Text 48"/>
          <p:cNvSpPr txBox="1"/>
          <p:nvPr/>
        </p:nvSpPr>
        <p:spPr>
          <a:xfrm>
            <a:off x="3218688" y="2592324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6.6%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941064" y="2555748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52" name="Text 50"/>
          <p:cNvSpPr txBox="1"/>
          <p:nvPr/>
        </p:nvSpPr>
        <p:spPr>
          <a:xfrm>
            <a:off x="3968496" y="2592324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608576" y="2555748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4636008" y="2592324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276088" y="2555748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5303520" y="2592324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$754.980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93408" y="2555748"/>
            <a:ext cx="137160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6720840" y="2592324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2.023m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64592" y="2816352"/>
            <a:ext cx="141732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192024" y="2852928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 2026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581912" y="2816352"/>
            <a:ext cx="80467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1609344" y="2852928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1.864m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2386584" y="2816352"/>
            <a:ext cx="80467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64" name="Text 62"/>
          <p:cNvSpPr txBox="1"/>
          <p:nvPr/>
        </p:nvSpPr>
        <p:spPr>
          <a:xfrm>
            <a:off x="2414016" y="2852928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149m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191256" y="2816352"/>
            <a:ext cx="749808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66" name="Text 64"/>
          <p:cNvSpPr txBox="1"/>
          <p:nvPr/>
        </p:nvSpPr>
        <p:spPr>
          <a:xfrm>
            <a:off x="3218688" y="2852928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7.4%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941064" y="2816352"/>
            <a:ext cx="66751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3968496" y="2852928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608576" y="2816352"/>
            <a:ext cx="66751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70" name="Text 68"/>
          <p:cNvSpPr txBox="1"/>
          <p:nvPr/>
        </p:nvSpPr>
        <p:spPr>
          <a:xfrm>
            <a:off x="4636008" y="2852928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157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276088" y="2816352"/>
            <a:ext cx="141732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72" name="Text 70"/>
          <p:cNvSpPr txBox="1"/>
          <p:nvPr/>
        </p:nvSpPr>
        <p:spPr>
          <a:xfrm>
            <a:off x="5303520" y="2852928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$861.120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6693408" y="2816352"/>
            <a:ext cx="137160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74" name="Text 72"/>
          <p:cNvSpPr txBox="1"/>
          <p:nvPr/>
        </p:nvSpPr>
        <p:spPr>
          <a:xfrm>
            <a:off x="6720840" y="2852928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2.013m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164592" y="3076956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76" name="Text 74"/>
          <p:cNvSpPr txBox="1"/>
          <p:nvPr/>
        </p:nvSpPr>
        <p:spPr>
          <a:xfrm>
            <a:off x="192024" y="3113532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 2026*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1581912" y="3076956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78" name="Text 76"/>
          <p:cNvSpPr txBox="1"/>
          <p:nvPr/>
        </p:nvSpPr>
        <p:spPr>
          <a:xfrm>
            <a:off x="1609344" y="3113532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1.901m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2386584" y="3076956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0" name="Text 78"/>
          <p:cNvSpPr txBox="1"/>
          <p:nvPr/>
        </p:nvSpPr>
        <p:spPr>
          <a:xfrm>
            <a:off x="2414016" y="3113532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245m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3191256" y="3076956"/>
            <a:ext cx="749808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2" name="Text 80"/>
          <p:cNvSpPr txBox="1"/>
          <p:nvPr/>
        </p:nvSpPr>
        <p:spPr>
          <a:xfrm>
            <a:off x="3218688" y="3113532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941064" y="3076956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4" name="Text 82"/>
          <p:cNvSpPr txBox="1"/>
          <p:nvPr/>
        </p:nvSpPr>
        <p:spPr>
          <a:xfrm>
            <a:off x="3968496" y="3113532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608576" y="3076956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6" name="Text 84"/>
          <p:cNvSpPr txBox="1"/>
          <p:nvPr/>
        </p:nvSpPr>
        <p:spPr>
          <a:xfrm>
            <a:off x="4636008" y="3113532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5276088" y="3076956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88" name="Text 86"/>
          <p:cNvSpPr txBox="1"/>
          <p:nvPr/>
        </p:nvSpPr>
        <p:spPr>
          <a:xfrm>
            <a:off x="5303520" y="3113532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$1.422.372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693408" y="3076956"/>
            <a:ext cx="137160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90" name="Text 88"/>
          <p:cNvSpPr txBox="1"/>
          <p:nvPr/>
        </p:nvSpPr>
        <p:spPr>
          <a:xfrm>
            <a:off x="6720840" y="3113532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2.146m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164592" y="3337560"/>
            <a:ext cx="141732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92" name="Text 90"/>
          <p:cNvSpPr txBox="1"/>
          <p:nvPr/>
        </p:nvSpPr>
        <p:spPr>
          <a:xfrm>
            <a:off x="192024" y="3374136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2026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1581912" y="3337560"/>
            <a:ext cx="80467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94" name="Text 92"/>
          <p:cNvSpPr txBox="1"/>
          <p:nvPr/>
        </p:nvSpPr>
        <p:spPr>
          <a:xfrm>
            <a:off x="1609344" y="3374136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1.722m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2386584" y="3337560"/>
            <a:ext cx="80467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96" name="Text 94"/>
          <p:cNvSpPr txBox="1"/>
          <p:nvPr/>
        </p:nvSpPr>
        <p:spPr>
          <a:xfrm>
            <a:off x="2414016" y="3374136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279m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3191256" y="3337560"/>
            <a:ext cx="749808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98" name="Text 96"/>
          <p:cNvSpPr txBox="1"/>
          <p:nvPr/>
        </p:nvSpPr>
        <p:spPr>
          <a:xfrm>
            <a:off x="3218688" y="3374136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13.9%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3941064" y="3337560"/>
            <a:ext cx="66751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00" name="Text 98"/>
          <p:cNvSpPr txBox="1"/>
          <p:nvPr/>
        </p:nvSpPr>
        <p:spPr>
          <a:xfrm>
            <a:off x="3968496" y="3374136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608576" y="3337560"/>
            <a:ext cx="667512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02" name="Text 100"/>
          <p:cNvSpPr txBox="1"/>
          <p:nvPr/>
        </p:nvSpPr>
        <p:spPr>
          <a:xfrm>
            <a:off x="4636008" y="3374136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5276088" y="3337560"/>
            <a:ext cx="141732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04" name="Text 102"/>
          <p:cNvSpPr txBox="1"/>
          <p:nvPr/>
        </p:nvSpPr>
        <p:spPr>
          <a:xfrm>
            <a:off x="5303520" y="3374136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$1.636.356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6693408" y="3337560"/>
            <a:ext cx="1371600" cy="260604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06" name="Text 104"/>
          <p:cNvSpPr txBox="1"/>
          <p:nvPr/>
        </p:nvSpPr>
        <p:spPr>
          <a:xfrm>
            <a:off x="6720840" y="3374136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2.001m</a:t>
            </a:r>
            <a:endParaRPr lang="en-US" sz="750" dirty="0"/>
          </a:p>
        </p:txBody>
      </p:sp>
      <p:sp>
        <p:nvSpPr>
          <p:cNvPr id="1002" name="Shape 73 copy 1002"/>
          <p:cNvSpPr/>
          <p:nvPr/>
        </p:nvSpPr>
        <p:spPr>
          <a:xfrm>
            <a:off x="164592" y="3598164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03" name="Text 74 copy 1003"/>
          <p:cNvSpPr txBox="1"/>
          <p:nvPr/>
        </p:nvSpPr>
        <p:spPr>
          <a:xfrm>
            <a:off x="192024" y="3634740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2026</a:t>
            </a:r>
            <a:endParaRPr lang="en-US" sz="750" dirty="0"/>
          </a:p>
        </p:txBody>
      </p:sp>
      <p:sp>
        <p:nvSpPr>
          <p:cNvPr id="1004" name="Shape 75 copy 1004"/>
          <p:cNvSpPr/>
          <p:nvPr/>
        </p:nvSpPr>
        <p:spPr>
          <a:xfrm>
            <a:off x="1581912" y="3598164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05" name="Text 76 copy 1005"/>
          <p:cNvSpPr txBox="1"/>
          <p:nvPr/>
        </p:nvSpPr>
        <p:spPr>
          <a:xfrm>
            <a:off x="1609344" y="3634740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2.098m</a:t>
            </a:r>
            <a:endParaRPr lang="en-US" sz="750" dirty="0"/>
          </a:p>
        </p:txBody>
      </p:sp>
      <p:sp>
        <p:nvSpPr>
          <p:cNvPr id="1006" name="Shape 77 copy 1006"/>
          <p:cNvSpPr/>
          <p:nvPr/>
        </p:nvSpPr>
        <p:spPr>
          <a:xfrm>
            <a:off x="2386584" y="3598164"/>
            <a:ext cx="80467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07" name="Text 78 copy 1007"/>
          <p:cNvSpPr txBox="1"/>
          <p:nvPr/>
        </p:nvSpPr>
        <p:spPr>
          <a:xfrm>
            <a:off x="2414016" y="3634740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127m</a:t>
            </a:r>
            <a:endParaRPr lang="en-US" sz="750" dirty="0"/>
          </a:p>
        </p:txBody>
      </p:sp>
      <p:sp>
        <p:nvSpPr>
          <p:cNvPr id="1008" name="Shape 79 copy 1008"/>
          <p:cNvSpPr/>
          <p:nvPr/>
        </p:nvSpPr>
        <p:spPr>
          <a:xfrm>
            <a:off x="3191256" y="3598164"/>
            <a:ext cx="749808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09" name="Text 80 copy 1009"/>
          <p:cNvSpPr txBox="1"/>
          <p:nvPr/>
        </p:nvSpPr>
        <p:spPr>
          <a:xfrm>
            <a:off x="3218688" y="3634740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5.7%</a:t>
            </a:r>
            <a:endParaRPr lang="en-US" sz="750" dirty="0"/>
          </a:p>
        </p:txBody>
      </p:sp>
      <p:sp>
        <p:nvSpPr>
          <p:cNvPr id="1010" name="Shape 81 copy 1010"/>
          <p:cNvSpPr/>
          <p:nvPr/>
        </p:nvSpPr>
        <p:spPr>
          <a:xfrm>
            <a:off x="3941064" y="3598164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11" name="Text 82 copy 1011"/>
          <p:cNvSpPr txBox="1"/>
          <p:nvPr/>
        </p:nvSpPr>
        <p:spPr>
          <a:xfrm>
            <a:off x="3968496" y="3634740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750" dirty="0"/>
          </a:p>
        </p:txBody>
      </p:sp>
      <p:sp>
        <p:nvSpPr>
          <p:cNvPr id="1012" name="Shape 83 copy 1012"/>
          <p:cNvSpPr/>
          <p:nvPr/>
        </p:nvSpPr>
        <p:spPr>
          <a:xfrm>
            <a:off x="4608576" y="3598164"/>
            <a:ext cx="667512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13" name="Text 84 copy 1013"/>
          <p:cNvSpPr txBox="1"/>
          <p:nvPr/>
        </p:nvSpPr>
        <p:spPr>
          <a:xfrm>
            <a:off x="4636008" y="3634740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354</a:t>
            </a:r>
            <a:endParaRPr lang="en-US" sz="750" dirty="0"/>
          </a:p>
        </p:txBody>
      </p:sp>
      <p:sp>
        <p:nvSpPr>
          <p:cNvPr id="1014" name="Shape 85 copy 1014"/>
          <p:cNvSpPr/>
          <p:nvPr/>
        </p:nvSpPr>
        <p:spPr>
          <a:xfrm>
            <a:off x="5276088" y="3598164"/>
            <a:ext cx="1417320" cy="26060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1015" name="Text 86 copy 1015"/>
          <p:cNvSpPr txBox="1"/>
          <p:nvPr/>
        </p:nvSpPr>
        <p:spPr>
          <a:xfrm>
            <a:off x="5303520" y="3634740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$741.504</a:t>
            </a:r>
            <a:endParaRPr lang="en-US" sz="750" dirty="0"/>
          </a:p>
        </p:txBody>
      </p:sp>
      <p:sp>
        <p:nvSpPr>
          <p:cNvPr id="1016" name="Shape 87 copy 1016"/>
          <p:cNvSpPr/>
          <p:nvPr/>
        </p:nvSpPr>
        <p:spPr>
          <a:xfrm>
            <a:off x="6693408" y="3598164"/>
            <a:ext cx="1371600" cy="260604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017" name="Text 88 copy 1017"/>
          <p:cNvSpPr txBox="1"/>
          <p:nvPr/>
        </p:nvSpPr>
        <p:spPr>
          <a:xfrm>
            <a:off x="6720840" y="3634740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2.225m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164592" y="3858768"/>
            <a:ext cx="1417320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92024" y="3895344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1581912" y="3858768"/>
            <a:ext cx="804672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609344" y="3895344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9.475m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2386584" y="3858768"/>
            <a:ext cx="804672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2414016" y="3895344"/>
            <a:ext cx="7498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933m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3191256" y="3858768"/>
            <a:ext cx="749808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3218688" y="3895344"/>
            <a:ext cx="6949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9.0%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3941064" y="3858768"/>
            <a:ext cx="667512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3968496" y="3895344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236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4608576" y="3858768"/>
            <a:ext cx="667512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4636008" y="3895344"/>
            <a:ext cx="61264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1.045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5276088" y="3858768"/>
            <a:ext cx="1417320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03520" y="3895344"/>
            <a:ext cx="13624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6693408" y="3858768"/>
            <a:ext cx="1371600" cy="260604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6720840" y="3895344"/>
            <a:ext cx="13167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10.408m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164592" y="43159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Julio extrapolado (registro de ploteo incompleto). Mayo y agosto actualizados con Control de Ploteo v4; agosto suma 3 registros WA del 31-ago.</a:t>
            </a:r>
            <a:endParaRPr lang="en-US" sz="700" dirty="0"/>
          </a:p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 Costo = metros de reproceso del Control de Ploteo × $6.000/m si la pieza ya se había sublimado, o × $2.400/m si se frenó antes de sublimar (sólo armado de mesa + ploteo). Sin evidencia de la etapa se asume reproceso completo. Detalle en la slide 3.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749808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630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— METROS PRODUCCIÓN VS. REPROCESO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reproc ÷ (prod+reproc)  |  Base excluye moldes, muestras y pruebas de color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64592" y="82296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822960"/>
            <a:ext cx="3310128" cy="39319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9" name="Shape 6"/>
          <p:cNvSpPr/>
          <p:nvPr/>
        </p:nvSpPr>
        <p:spPr>
          <a:xfrm>
            <a:off x="5669280" y="822960"/>
            <a:ext cx="3310128" cy="45720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91440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DEL PERÍODO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06440" y="1280160"/>
            <a:ext cx="3063240" cy="365760"/>
          </a:xfrm>
          <a:prstGeom prst="rect">
            <a:avLst/>
          </a:prstGeom>
          <a:solidFill>
            <a:srgbClr val="0A2D1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25312" y="13167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31673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6.6%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131673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BAJO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806440" y="1682496"/>
            <a:ext cx="3063240" cy="365760"/>
          </a:xfrm>
          <a:prstGeom prst="rect">
            <a:avLst/>
          </a:prstGeom>
          <a:solidFill>
            <a:srgbClr val="2D1A0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25312" y="1719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1719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171907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MOD.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806440" y="2084832"/>
            <a:ext cx="3063240" cy="365760"/>
          </a:xfrm>
          <a:prstGeom prst="rect">
            <a:avLst/>
          </a:prstGeom>
          <a:solidFill>
            <a:srgbClr val="2D0A0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925312" y="21214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JULIO*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086600" y="21214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2121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ALTO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806440" y="2487168"/>
            <a:ext cx="3063240" cy="365760"/>
          </a:xfrm>
          <a:prstGeom prst="rect">
            <a:avLst/>
          </a:prstGeom>
          <a:solidFill>
            <a:srgbClr val="2D0A0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925312" y="25237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25237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13.9%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138160" y="25237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ALTO</a:t>
            </a:r>
            <a:endParaRPr lang="en-US" sz="900" dirty="0"/>
          </a:p>
        </p:txBody>
      </p:sp>
      <p:sp>
        <p:nvSpPr>
          <p:cNvPr id="1018" name="Shape 8 copy 1018"/>
          <p:cNvSpPr/>
          <p:nvPr/>
        </p:nvSpPr>
        <p:spPr>
          <a:xfrm>
            <a:off x="5806440" y="2889504"/>
            <a:ext cx="3063240" cy="365760"/>
          </a:xfrm>
          <a:prstGeom prst="rect">
            <a:avLst/>
          </a:prstGeom>
          <a:solidFill>
            <a:srgbClr val="0A2D17"/>
          </a:solidFill>
          <a:ln/>
        </p:spPr>
      </p:sp>
      <p:sp>
        <p:nvSpPr>
          <p:cNvPr id="1019" name="Text 9 copy 1019"/>
          <p:cNvSpPr txBox="1"/>
          <p:nvPr/>
        </p:nvSpPr>
        <p:spPr>
          <a:xfrm>
            <a:off x="5925312" y="2926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endParaRPr lang="en-US" sz="950" dirty="0"/>
          </a:p>
        </p:txBody>
      </p:sp>
      <p:sp>
        <p:nvSpPr>
          <p:cNvPr id="1020" name="Text 10 copy 1020"/>
          <p:cNvSpPr txBox="1"/>
          <p:nvPr/>
        </p:nvSpPr>
        <p:spPr>
          <a:xfrm>
            <a:off x="7086600" y="2926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5.7%</a:t>
            </a:r>
            <a:endParaRPr lang="en-US" sz="1600" dirty="0"/>
          </a:p>
        </p:txBody>
      </p:sp>
      <p:sp>
        <p:nvSpPr>
          <p:cNvPr id="1021" name="Text 11 copy 1021"/>
          <p:cNvSpPr txBox="1"/>
          <p:nvPr/>
        </p:nvSpPr>
        <p:spPr>
          <a:xfrm>
            <a:off x="8138160" y="2926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BAJO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669280" y="3401568"/>
            <a:ext cx="3310128" cy="530352"/>
          </a:xfrm>
          <a:prstGeom prst="rect">
            <a:avLst/>
          </a:prstGeom>
          <a:solidFill>
            <a:srgbClr val="1B7F4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806440" y="3465576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VUELVE A ZONA VERDE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13,9% → 5,7%   |   Jul. y ago. superaron el 10%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69280" y="3995928"/>
            <a:ext cx="3310128" cy="7498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059936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ACUMULADO (SEGÚN ETAPA)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5806440" y="4297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 CLP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64592" y="480060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Julio extrapolado. % real: 11,4%. Agosto actualizado con registro de ploteo completo (1.722 m prod. / 279 m reproc.).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749808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63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 % REPROCESO — META ≤5%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" y="4297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= reproc ÷ (prod+reproc)  |  Sep.: 5,7% (meta del mes ≤11% cumplida)  →  meta ≤5% diciembre 2026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164592" y="804672"/>
          <a:ext cx="57607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126480" y="804672"/>
            <a:ext cx="2852928" cy="39776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9" name="Shape 6"/>
          <p:cNvSpPr/>
          <p:nvPr/>
        </p:nvSpPr>
        <p:spPr>
          <a:xfrm>
            <a:off x="6126480" y="804672"/>
            <a:ext cx="2852928" cy="45720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263640" y="8869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DE RUTA Q4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1197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~1.900m/mes (prod+reproc)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263640" y="1463040"/>
            <a:ext cx="475488" cy="530352"/>
          </a:xfrm>
          <a:prstGeom prst="rect">
            <a:avLst/>
          </a:prstGeom>
          <a:solidFill>
            <a:srgbClr val="1B7F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159105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784848" y="1463040"/>
            <a:ext cx="65836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84848" y="151790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≤11%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17465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≤235m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488936" y="14904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 b="1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Real: 5,7% · 127m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diario papel y calandra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263640" y="2084832"/>
            <a:ext cx="47548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263640" y="2212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84848" y="2084832"/>
            <a:ext cx="65836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784848" y="213969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≤8%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784848" y="23682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≤165m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7488936" y="21762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Chequeo mesa 100% antes imprimir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263640" y="2706624"/>
            <a:ext cx="47548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263640" y="283464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784848" y="2706624"/>
            <a:ext cx="65836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784848" y="27614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≤6%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784848" y="29900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≤121m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7488936" y="2798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semanal del equipo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263640" y="3328416"/>
            <a:ext cx="475488" cy="53035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263640" y="34564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784848" y="3328416"/>
            <a:ext cx="658368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84848" y="33832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≤5%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784848" y="3611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≤100m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7488936" y="34198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— KPI operativo consolidado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126480" y="4096512"/>
            <a:ext cx="2852928" cy="685800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263640" y="4160520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Q4: ≤100m/mes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263640" y="44348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(prod+reproc) = ≤1 de cada 20m reimpresos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64592" y="4800600"/>
            <a:ext cx="8686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Jul. extrapolado. Blanco = % real. Azul = meta mensual de la hoja de ruta Q4. Verde = meta ≤5% en dic.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7132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01168" y="1371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MOTIVOS DE REPROCESO — CAUSA RAÍZ REAL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01168" y="43891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Verificado registro a registro contra chat WA. Papel/calandra → Mesa. Pendientes reales separados.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26280" y="713232"/>
            <a:ext cx="36576" cy="400507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" y="768096"/>
            <a:ext cx="4297680" cy="2560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600" y="79552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ACUMULADO MAYO – SEPTIEMBRE  (236 eventos)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4592" y="1042416"/>
            <a:ext cx="4297680" cy="274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0" y="1133856"/>
            <a:ext cx="2331720" cy="310896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4592" y="114300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Mesa/Papel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11430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80  33.9%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280160" y="1504188"/>
            <a:ext cx="174879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4592" y="15133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Sublimación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083814" y="15133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60  25.4%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280160" y="1874520"/>
            <a:ext cx="874395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64592" y="1883664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209419" y="18836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30  12.7%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80160" y="2244852"/>
            <a:ext cx="378904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64592" y="22539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Faltó imp.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713928" y="22539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13  5.5%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280160" y="2615184"/>
            <a:ext cx="58293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64592" y="26243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917954" y="26243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20  8.5%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280160" y="2985516"/>
            <a:ext cx="49549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4592" y="299466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Confección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830514" y="29946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17  7.2%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80160" y="3355848"/>
            <a:ext cx="466344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64592" y="33649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Diseño/Ficha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801368" y="3364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16  6.8%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81728" y="768096"/>
            <a:ext cx="4297680" cy="2560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Shape 31"/>
          <p:cNvSpPr/>
          <p:nvPr/>
        </p:nvSpPr>
        <p:spPr>
          <a:xfrm>
            <a:off x="4681728" y="768096"/>
            <a:ext cx="36576" cy="2560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79552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2026  (51 eventos) — Verificado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681728" y="1042416"/>
            <a:ext cx="4297680" cy="274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36" name="Shape 34"/>
          <p:cNvSpPr/>
          <p:nvPr/>
        </p:nvSpPr>
        <p:spPr>
          <a:xfrm>
            <a:off x="5797296" y="1133856"/>
            <a:ext cx="194310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81728" y="114300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Mesa/Papel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7795260" y="11430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10  19.6%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797296" y="1504188"/>
            <a:ext cx="2331720" cy="310896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681728" y="15133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Sublimación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15133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 b="1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12  23.5%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797296" y="1874520"/>
            <a:ext cx="136017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681728" y="1883664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212330" y="18836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7  13.7%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797296" y="2244852"/>
            <a:ext cx="38862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81728" y="22539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Faltó imp.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6240780" y="225399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2  3.9%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797296" y="2615184"/>
            <a:ext cx="136017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681728" y="26243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212330" y="26243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7  13.7%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797296" y="2985516"/>
            <a:ext cx="116586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681728" y="299466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Confección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7018020" y="29946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6  11.8%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797296" y="3355848"/>
            <a:ext cx="1360170" cy="310896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681728" y="33649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Diseño/Ficha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7212330" y="336499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7  13.7%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" y="3858768"/>
            <a:ext cx="8814816" cy="36576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64592" y="3913632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1481328" y="39136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2066544" y="39136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2651760" y="39136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3236976" y="39136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</a:t>
            </a:r>
            <a:endParaRPr lang="en-US" sz="750" dirty="0"/>
          </a:p>
        </p:txBody>
      </p:sp>
      <p:sp>
        <p:nvSpPr>
          <p:cNvPr id="1022" name="Text 60 copy 1022"/>
          <p:cNvSpPr txBox="1"/>
          <p:nvPr/>
        </p:nvSpPr>
        <p:spPr>
          <a:xfrm>
            <a:off x="3822192" y="391363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64592" y="4133088"/>
            <a:ext cx="420624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01168" y="415137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Mesa/Papel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1481328" y="41513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66" name="Text 64"/>
          <p:cNvSpPr txBox="1"/>
          <p:nvPr/>
        </p:nvSpPr>
        <p:spPr>
          <a:xfrm>
            <a:off x="2066544" y="41513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2651760" y="41513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3236976" y="41513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1023" name="Text 63 copy 1023"/>
          <p:cNvSpPr txBox="1"/>
          <p:nvPr/>
        </p:nvSpPr>
        <p:spPr>
          <a:xfrm>
            <a:off x="3822192" y="4151376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64592" y="4334256"/>
            <a:ext cx="4206240" cy="18288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01168" y="4352544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Sublimación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1481328" y="435254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2066544" y="435254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2651760" y="435254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3236976" y="435254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1024" name="Text 69 copy 1024"/>
          <p:cNvSpPr txBox="1"/>
          <p:nvPr/>
        </p:nvSpPr>
        <p:spPr>
          <a:xfrm>
            <a:off x="3822192" y="435254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164592" y="4535424"/>
            <a:ext cx="420624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201168" y="4553712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Pendiente</a:t>
            </a:r>
            <a:endParaRPr lang="en-US" sz="700" dirty="0"/>
          </a:p>
        </p:txBody>
      </p:sp>
      <p:sp>
        <p:nvSpPr>
          <p:cNvPr id="77" name="Text 75"/>
          <p:cNvSpPr txBox="1"/>
          <p:nvPr/>
        </p:nvSpPr>
        <p:spPr>
          <a:xfrm>
            <a:off x="1481328" y="45537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2066544" y="45537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2651760" y="45537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3236976" y="45537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1025" name="Text 75 copy 1025"/>
          <p:cNvSpPr txBox="1"/>
          <p:nvPr/>
        </p:nvSpPr>
        <p:spPr>
          <a:xfrm>
            <a:off x="3822192" y="455371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164592" y="481888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Naranja = valor más alto   |   Septiembre: Sublimación pasa a Nº1 (12 ev.), Mesa/Papel baja a Nº2 (10 ev.); Pendiente, Corte y Diseño/Ficha empatan (7 ev.)  —  Verificado vs chat WA</a:t>
            </a:r>
            <a:endParaRPr lang="en-US" sz="700" dirty="0"/>
          </a:p>
        </p:txBody>
      </p:sp>
      <p:sp>
        <p:nvSpPr>
          <p:cNvPr id="1026" name="Text 56 copy 1026"/>
          <p:cNvSpPr txBox="1"/>
          <p:nvPr/>
        </p:nvSpPr>
        <p:spPr>
          <a:xfrm>
            <a:off x="4681728" y="391363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VS. AGOSTO (EVENTOS)</a:t>
            </a:r>
            <a:endParaRPr lang="en-US" sz="750" dirty="0"/>
          </a:p>
        </p:txBody>
      </p:sp>
      <p:sp>
        <p:nvSpPr>
          <p:cNvPr id="1027" name="Text 63 copy 1027"/>
          <p:cNvSpPr txBox="1"/>
          <p:nvPr/>
        </p:nvSpPr>
        <p:spPr>
          <a:xfrm>
            <a:off x="4681728" y="4133088"/>
            <a:ext cx="4297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Mesa/Papel 15 → 10 ▼     Pendiente 12 → 7 ▼     Faltó imp. 5 → 2 ▼</a:t>
            </a:r>
            <a:endParaRPr lang="en-US" sz="7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4 → 7 ▲     Diseño/Ficha 5 → 7 ▲     Confección 4 → 6 ▲     Sublimación 12 → 12 =</a:t>
            </a:r>
            <a:endParaRPr lang="en-US" sz="7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750" dirty="0" b="1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57 → 51 eventos (−11%), pero los metros de reproceso caen −54% (279 → 127 m).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749808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6459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ACCIÓN — 5 PASOS CONCRETOS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4592" y="868680"/>
            <a:ext cx="457200" cy="11704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4592" y="12527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" y="868680"/>
            <a:ext cx="3886200" cy="11704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9326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URGENTE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1247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registro ploteo julio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1435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221m vs ~2.100m esperados. Recuperar datos para validar el 11,4%.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64592" y="2167128"/>
            <a:ext cx="457200" cy="11704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4592" y="2551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1792" y="2167128"/>
            <a:ext cx="3886200" cy="11704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23113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PRIORITARIO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42316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Agregar "Mesa / Papel" al chat WA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27340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eventos de papel/calandra (may–sep) categorizados como otra causa. Nueva categoría en PENDIENTES PMK.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64592" y="3465576"/>
            <a:ext cx="457200" cy="11704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64592" y="384962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" y="3465576"/>
            <a:ext cx="3886200" cy="11704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52958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PRIORITARIO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721608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alerta 8% mensual en ploteo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325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 &lt;7%, Naranja 7–10%, Rojo &gt;10% sobre (prod+reproc). Dashboard ya lo calcula.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9160" y="868680"/>
            <a:ext cx="457200" cy="1170432"/>
          </a:xfrm>
          <a:prstGeom prst="rect">
            <a:avLst/>
          </a:prstGeom>
          <a:solidFill>
            <a:srgbClr val="2C5F8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12527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166360" y="868680"/>
            <a:ext cx="3886200" cy="11704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76088" y="9326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C5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IMPORTANTE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11247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Unificar categorías y registrar etapa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76088" y="1435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Mesa/Papel (WA) = Error en mesa + Falta de paño + Banding. Nueva columna "Etapa detectada" (antes/después de sublimar) en Control de Ploteo y línea ETAPA en WA.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709160" y="2167128"/>
            <a:ext cx="457200" cy="1170432"/>
          </a:xfrm>
          <a:prstGeom prst="rect">
            <a:avLst/>
          </a:prstGeom>
          <a:solidFill>
            <a:srgbClr val="1B7F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2551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166360" y="2167128"/>
            <a:ext cx="3886200" cy="1170432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276088" y="223113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B7F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5276088" y="242316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Ingresar ventas en Excel Maestro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7340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Columna Venta en Datos_Maestro lista. Activa % pérdida sobre venta automático.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709160" y="3465576"/>
            <a:ext cx="4343400" cy="11704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64608" y="355701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Q4 2026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864608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reproceso: 5,7% en sep. → meta ≤5% dic.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Reproc. 127m en sep. → meta ≤100m/mes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70348"/>
            <a:ext cx="9034272" cy="7315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50292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REPROCESO BAJÓ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13,9% → 5,7%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SEPTIEMBRE.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8346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EVENTOS CASI NO BAJAN: 57 → 51.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3611880"/>
            <a:ext cx="8412480" cy="7498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38587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 CLP costo estimado   |   933m reprocesados   |   80 eventos Mesa/Papel   |   Meta: ≤100m/mes dic. 2026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47365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CLUB, UNA FAMILIA   |   www.playmaker.cl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1" name="Shape 200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002" name="Shape 2002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003" name="Shape 2003"/>
          <p:cNvSpPr/>
          <p:nvPr/>
        </p:nvSpPr>
        <p:spPr>
          <a:xfrm>
            <a:off x="0" y="0"/>
            <a:ext cx="54864" cy="749808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04" name="Shape 2004"/>
          <p:cNvSpPr txBox="1"/>
          <p:nvPr/>
        </p:nvSpPr>
        <p:spPr>
          <a:xfrm>
            <a:off x="228600" y="14630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DE REPROCESO — SEGÚN ETAPA DE DETECCIÓN</a:t>
            </a:r>
            <a:endParaRPr lang="en-US" sz="1600" dirty="0"/>
          </a:p>
        </p:txBody>
      </p:sp>
      <p:sp>
        <p:nvSpPr>
          <p:cNvPr id="2005" name="Shape 2005"/>
          <p:cNvSpPr txBox="1"/>
          <p:nvPr/>
        </p:nvSpPr>
        <p:spPr>
          <a:xfrm>
            <a:off x="228600" y="45720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por metro $6.000 = tela 40% + armado de mesa y ploteo 40% + sublimación 20%   |   Metros reales del Control de Ploteo</a:t>
            </a:r>
            <a:endParaRPr lang="en-US" sz="850" dirty="0"/>
          </a:p>
        </p:txBody>
      </p:sp>
      <p:sp>
        <p:nvSpPr>
          <p:cNvPr id="2006" name="Shape 2006"/>
          <p:cNvSpPr txBox="1"/>
          <p:nvPr/>
        </p:nvSpPr>
        <p:spPr>
          <a:xfrm>
            <a:off x="164592" y="8686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SE PIERDE EN CADA REPROCESO?  (por metro)</a:t>
            </a:r>
            <a:endParaRPr lang="en-US" sz="1100" dirty="0"/>
          </a:p>
        </p:txBody>
      </p:sp>
      <p:sp>
        <p:nvSpPr>
          <p:cNvPr id="2007" name="Shape 2007"/>
          <p:cNvSpPr/>
          <p:nvPr/>
        </p:nvSpPr>
        <p:spPr>
          <a:xfrm>
            <a:off x="164592" y="1133856"/>
            <a:ext cx="3498494" cy="384048"/>
          </a:xfrm>
          <a:prstGeom prst="rect">
            <a:avLst/>
          </a:prstGeom>
          <a:solidFill>
            <a:srgbClr val="1B7F4A"/>
          </a:solidFill>
          <a:ln/>
        </p:spPr>
        <p:txBody>
          <a:bodyPr/>
          <a:p/>
        </p:txBody>
      </p:sp>
      <p:sp>
        <p:nvSpPr>
          <p:cNvPr id="2008" name="Shape 2008"/>
          <p:cNvSpPr txBox="1"/>
          <p:nvPr/>
        </p:nvSpPr>
        <p:spPr>
          <a:xfrm>
            <a:off x="210312" y="1170432"/>
            <a:ext cx="34070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ARMADO DE MESA + PLOTEO  ·  40%  ·  $2.400</a:t>
            </a:r>
            <a:endParaRPr lang="en-US" sz="700" dirty="0"/>
          </a:p>
        </p:txBody>
      </p:sp>
      <p:sp>
        <p:nvSpPr>
          <p:cNvPr id="2009" name="Shape 2009"/>
          <p:cNvSpPr/>
          <p:nvPr/>
        </p:nvSpPr>
        <p:spPr>
          <a:xfrm>
            <a:off x="3690518" y="1133856"/>
            <a:ext cx="3498494" cy="384048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10" name="Shape 2010"/>
          <p:cNvSpPr txBox="1"/>
          <p:nvPr/>
        </p:nvSpPr>
        <p:spPr>
          <a:xfrm>
            <a:off x="3736238" y="1170432"/>
            <a:ext cx="34070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 ·  40%  ·  $2.400</a:t>
            </a:r>
            <a:endParaRPr lang="en-US" sz="700" dirty="0"/>
          </a:p>
        </p:txBody>
      </p:sp>
      <p:sp>
        <p:nvSpPr>
          <p:cNvPr id="2011" name="Shape 2011"/>
          <p:cNvSpPr/>
          <p:nvPr/>
        </p:nvSpPr>
        <p:spPr>
          <a:xfrm>
            <a:off x="7216445" y="1133856"/>
            <a:ext cx="1762963" cy="384048"/>
          </a:xfrm>
          <a:prstGeom prst="rect">
            <a:avLst/>
          </a:prstGeom>
          <a:solidFill>
            <a:srgbClr val="B4501A"/>
          </a:solidFill>
          <a:ln/>
        </p:spPr>
        <p:txBody>
          <a:bodyPr/>
          <a:p/>
        </p:txBody>
      </p:sp>
      <p:sp>
        <p:nvSpPr>
          <p:cNvPr id="2012" name="Shape 2012"/>
          <p:cNvSpPr txBox="1"/>
          <p:nvPr/>
        </p:nvSpPr>
        <p:spPr>
          <a:xfrm>
            <a:off x="7262165" y="1170432"/>
            <a:ext cx="16715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SUBLIMACIÓN  ·  20%  ·  $1.200</a:t>
            </a:r>
            <a:endParaRPr lang="en-US" sz="700" dirty="0"/>
          </a:p>
        </p:txBody>
      </p:sp>
      <p:sp>
        <p:nvSpPr>
          <p:cNvPr id="2013" name="Shape 2013"/>
          <p:cNvSpPr txBox="1"/>
          <p:nvPr/>
        </p:nvSpPr>
        <p:spPr>
          <a:xfrm>
            <a:off x="164592" y="1591056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FRENADO ANTES DE SUBLIMAR → sólo se reimprime: $2.400/m</a:t>
            </a:r>
            <a:endParaRPr lang="en-US" sz="750" dirty="0"/>
          </a:p>
        </p:txBody>
      </p:sp>
      <p:sp>
        <p:nvSpPr>
          <p:cNvPr id="2014" name="Shape 2014"/>
          <p:cNvSpPr txBox="1"/>
          <p:nvPr/>
        </p:nvSpPr>
        <p:spPr>
          <a:xfrm>
            <a:off x="3694176" y="1591056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SUBLIMADO → se pierden las 3 partes: $6.000/m ▲</a:t>
            </a:r>
            <a:endParaRPr lang="en-US" sz="750" dirty="0"/>
          </a:p>
        </p:txBody>
      </p:sp>
      <p:sp>
        <p:nvSpPr>
          <p:cNvPr id="2015" name="Shape 2015"/>
          <p:cNvSpPr/>
          <p:nvPr/>
        </p:nvSpPr>
        <p:spPr>
          <a:xfrm>
            <a:off x="164592" y="1938528"/>
            <a:ext cx="1188720" cy="310896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16" name="Shape 2016"/>
          <p:cNvSpPr txBox="1"/>
          <p:nvPr/>
        </p:nvSpPr>
        <p:spPr>
          <a:xfrm>
            <a:off x="201168" y="19659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</a:t>
            </a:r>
            <a:endParaRPr lang="en-US" sz="700" dirty="0"/>
          </a:p>
        </p:txBody>
      </p:sp>
      <p:sp>
        <p:nvSpPr>
          <p:cNvPr id="2017" name="Shape 2017"/>
          <p:cNvSpPr/>
          <p:nvPr/>
        </p:nvSpPr>
        <p:spPr>
          <a:xfrm>
            <a:off x="1353312" y="1938528"/>
            <a:ext cx="1005840" cy="310896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18" name="Shape 2018"/>
          <p:cNvSpPr txBox="1"/>
          <p:nvPr/>
        </p:nvSpPr>
        <p:spPr>
          <a:xfrm>
            <a:off x="1389888" y="19659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REIMPR.</a:t>
            </a:r>
            <a:endParaRPr lang="en-US" sz="700" dirty="0"/>
          </a:p>
        </p:txBody>
      </p:sp>
      <p:sp>
        <p:nvSpPr>
          <p:cNvPr id="2019" name="Shape 2019"/>
          <p:cNvSpPr/>
          <p:nvPr/>
        </p:nvSpPr>
        <p:spPr>
          <a:xfrm>
            <a:off x="2359152" y="1938528"/>
            <a:ext cx="1005840" cy="310896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20" name="Shape 2020"/>
          <p:cNvSpPr txBox="1"/>
          <p:nvPr/>
        </p:nvSpPr>
        <p:spPr>
          <a:xfrm>
            <a:off x="2395728" y="19659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COMPLETO</a:t>
            </a:r>
            <a:endParaRPr lang="en-US" sz="700" dirty="0"/>
          </a:p>
        </p:txBody>
      </p:sp>
      <p:sp>
        <p:nvSpPr>
          <p:cNvPr id="2021" name="Shape 2021"/>
          <p:cNvSpPr/>
          <p:nvPr/>
        </p:nvSpPr>
        <p:spPr>
          <a:xfrm>
            <a:off x="3364992" y="1938528"/>
            <a:ext cx="1188720" cy="310896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22" name="Shape 2022"/>
          <p:cNvSpPr txBox="1"/>
          <p:nvPr/>
        </p:nvSpPr>
        <p:spPr>
          <a:xfrm>
            <a:off x="3401568" y="196596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(CLP)</a:t>
            </a:r>
            <a:endParaRPr lang="en-US" sz="700" dirty="0"/>
          </a:p>
        </p:txBody>
      </p:sp>
      <p:sp>
        <p:nvSpPr>
          <p:cNvPr id="2023" name="Shape 2023"/>
          <p:cNvSpPr/>
          <p:nvPr/>
        </p:nvSpPr>
        <p:spPr>
          <a:xfrm>
            <a:off x="164592" y="2286000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24" name="Shape 2024"/>
          <p:cNvSpPr/>
          <p:nvPr/>
        </p:nvSpPr>
        <p:spPr>
          <a:xfrm>
            <a:off x="1353312" y="2286000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25" name="Shape 2025"/>
          <p:cNvSpPr/>
          <p:nvPr/>
        </p:nvSpPr>
        <p:spPr>
          <a:xfrm>
            <a:off x="2359152" y="2286000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26" name="Shape 2026"/>
          <p:cNvSpPr/>
          <p:nvPr/>
        </p:nvSpPr>
        <p:spPr>
          <a:xfrm>
            <a:off x="3364992" y="2286000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27" name="Shape 2027"/>
          <p:cNvSpPr txBox="1"/>
          <p:nvPr/>
        </p:nvSpPr>
        <p:spPr>
          <a:xfrm>
            <a:off x="192024" y="231343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</a:t>
            </a:r>
            <a:endParaRPr lang="en-US" sz="750" dirty="0"/>
          </a:p>
        </p:txBody>
      </p:sp>
      <p:sp>
        <p:nvSpPr>
          <p:cNvPr id="2028" name="Shape 2028"/>
          <p:cNvSpPr txBox="1"/>
          <p:nvPr/>
        </p:nvSpPr>
        <p:spPr>
          <a:xfrm>
            <a:off x="1380744" y="231343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</a:t>
            </a:r>
            <a:endParaRPr lang="en-US" sz="750" dirty="0"/>
          </a:p>
        </p:txBody>
      </p:sp>
      <p:sp>
        <p:nvSpPr>
          <p:cNvPr id="2029" name="Shape 2029"/>
          <p:cNvSpPr txBox="1"/>
          <p:nvPr/>
        </p:nvSpPr>
        <p:spPr>
          <a:xfrm>
            <a:off x="2386584" y="231343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m</a:t>
            </a:r>
            <a:endParaRPr lang="en-US" sz="750" dirty="0"/>
          </a:p>
        </p:txBody>
      </p:sp>
      <p:sp>
        <p:nvSpPr>
          <p:cNvPr id="2030" name="Shape 2030"/>
          <p:cNvSpPr txBox="1"/>
          <p:nvPr/>
        </p:nvSpPr>
        <p:spPr>
          <a:xfrm>
            <a:off x="3392424" y="231343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$754.980</a:t>
            </a:r>
            <a:endParaRPr lang="en-US" sz="750" dirty="0"/>
          </a:p>
        </p:txBody>
      </p:sp>
      <p:sp>
        <p:nvSpPr>
          <p:cNvPr id="2031" name="Shape 2031"/>
          <p:cNvSpPr/>
          <p:nvPr/>
        </p:nvSpPr>
        <p:spPr>
          <a:xfrm>
            <a:off x="164592" y="2546604"/>
            <a:ext cx="118872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32" name="Shape 2032"/>
          <p:cNvSpPr/>
          <p:nvPr/>
        </p:nvSpPr>
        <p:spPr>
          <a:xfrm>
            <a:off x="1353312" y="2546604"/>
            <a:ext cx="100584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33" name="Shape 2033"/>
          <p:cNvSpPr/>
          <p:nvPr/>
        </p:nvSpPr>
        <p:spPr>
          <a:xfrm>
            <a:off x="2359152" y="2546604"/>
            <a:ext cx="100584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34" name="Shape 2034"/>
          <p:cNvSpPr/>
          <p:nvPr/>
        </p:nvSpPr>
        <p:spPr>
          <a:xfrm>
            <a:off x="3364992" y="2546604"/>
            <a:ext cx="118872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35" name="Shape 2035"/>
          <p:cNvSpPr txBox="1"/>
          <p:nvPr/>
        </p:nvSpPr>
        <p:spPr>
          <a:xfrm>
            <a:off x="192024" y="2574036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</a:t>
            </a:r>
            <a:endParaRPr lang="en-US" sz="750" dirty="0"/>
          </a:p>
        </p:txBody>
      </p:sp>
      <p:sp>
        <p:nvSpPr>
          <p:cNvPr id="2036" name="Shape 2036"/>
          <p:cNvSpPr txBox="1"/>
          <p:nvPr/>
        </p:nvSpPr>
        <p:spPr>
          <a:xfrm>
            <a:off x="1380744" y="2574036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</a:t>
            </a:r>
            <a:endParaRPr lang="en-US" sz="750" dirty="0"/>
          </a:p>
        </p:txBody>
      </p:sp>
      <p:sp>
        <p:nvSpPr>
          <p:cNvPr id="2037" name="Shape 2037"/>
          <p:cNvSpPr txBox="1"/>
          <p:nvPr/>
        </p:nvSpPr>
        <p:spPr>
          <a:xfrm>
            <a:off x="2386584" y="2574036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</a:t>
            </a:r>
            <a:endParaRPr lang="en-US" sz="750" dirty="0"/>
          </a:p>
        </p:txBody>
      </p:sp>
      <p:sp>
        <p:nvSpPr>
          <p:cNvPr id="2038" name="Shape 2038"/>
          <p:cNvSpPr txBox="1"/>
          <p:nvPr/>
        </p:nvSpPr>
        <p:spPr>
          <a:xfrm>
            <a:off x="3392424" y="2574036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$861.120</a:t>
            </a:r>
            <a:endParaRPr lang="en-US" sz="750" dirty="0"/>
          </a:p>
        </p:txBody>
      </p:sp>
      <p:sp>
        <p:nvSpPr>
          <p:cNvPr id="2039" name="Shape 2039"/>
          <p:cNvSpPr/>
          <p:nvPr/>
        </p:nvSpPr>
        <p:spPr>
          <a:xfrm>
            <a:off x="164592" y="2807208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40" name="Shape 2040"/>
          <p:cNvSpPr/>
          <p:nvPr/>
        </p:nvSpPr>
        <p:spPr>
          <a:xfrm>
            <a:off x="1353312" y="2807208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41" name="Shape 2041"/>
          <p:cNvSpPr/>
          <p:nvPr/>
        </p:nvSpPr>
        <p:spPr>
          <a:xfrm>
            <a:off x="2359152" y="2807208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42" name="Shape 2042"/>
          <p:cNvSpPr/>
          <p:nvPr/>
        </p:nvSpPr>
        <p:spPr>
          <a:xfrm>
            <a:off x="3364992" y="2807208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43" name="Shape 2043"/>
          <p:cNvSpPr txBox="1"/>
          <p:nvPr/>
        </p:nvSpPr>
        <p:spPr>
          <a:xfrm>
            <a:off x="192024" y="283464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JULIO*</a:t>
            </a:r>
            <a:endParaRPr lang="en-US" sz="750" dirty="0"/>
          </a:p>
        </p:txBody>
      </p:sp>
      <p:sp>
        <p:nvSpPr>
          <p:cNvPr id="2044" name="Shape 2044"/>
          <p:cNvSpPr txBox="1"/>
          <p:nvPr/>
        </p:nvSpPr>
        <p:spPr>
          <a:xfrm>
            <a:off x="1380744" y="2834640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</a:t>
            </a:r>
            <a:endParaRPr lang="en-US" sz="750" dirty="0"/>
          </a:p>
        </p:txBody>
      </p:sp>
      <p:sp>
        <p:nvSpPr>
          <p:cNvPr id="2045" name="Shape 2045"/>
          <p:cNvSpPr txBox="1"/>
          <p:nvPr/>
        </p:nvSpPr>
        <p:spPr>
          <a:xfrm>
            <a:off x="2386584" y="2834640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 m</a:t>
            </a:r>
            <a:endParaRPr lang="en-US" sz="750" dirty="0"/>
          </a:p>
        </p:txBody>
      </p:sp>
      <p:sp>
        <p:nvSpPr>
          <p:cNvPr id="2046" name="Shape 2046"/>
          <p:cNvSpPr txBox="1"/>
          <p:nvPr/>
        </p:nvSpPr>
        <p:spPr>
          <a:xfrm>
            <a:off x="3392424" y="2834640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$1.422.372</a:t>
            </a:r>
            <a:endParaRPr lang="en-US" sz="750" dirty="0"/>
          </a:p>
        </p:txBody>
      </p:sp>
      <p:sp>
        <p:nvSpPr>
          <p:cNvPr id="2047" name="Shape 2047"/>
          <p:cNvSpPr/>
          <p:nvPr/>
        </p:nvSpPr>
        <p:spPr>
          <a:xfrm>
            <a:off x="164592" y="3067812"/>
            <a:ext cx="118872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48" name="Shape 2048"/>
          <p:cNvSpPr/>
          <p:nvPr/>
        </p:nvSpPr>
        <p:spPr>
          <a:xfrm>
            <a:off x="1353312" y="3067812"/>
            <a:ext cx="100584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49" name="Shape 2049"/>
          <p:cNvSpPr/>
          <p:nvPr/>
        </p:nvSpPr>
        <p:spPr>
          <a:xfrm>
            <a:off x="2359152" y="3067812"/>
            <a:ext cx="100584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50" name="Shape 2050"/>
          <p:cNvSpPr/>
          <p:nvPr/>
        </p:nvSpPr>
        <p:spPr>
          <a:xfrm>
            <a:off x="3364992" y="3067812"/>
            <a:ext cx="1188720" cy="256032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051" name="Shape 2051"/>
          <p:cNvSpPr txBox="1"/>
          <p:nvPr/>
        </p:nvSpPr>
        <p:spPr>
          <a:xfrm>
            <a:off x="192024" y="309524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750" dirty="0"/>
          </a:p>
        </p:txBody>
      </p:sp>
      <p:sp>
        <p:nvSpPr>
          <p:cNvPr id="2052" name="Shape 2052"/>
          <p:cNvSpPr txBox="1"/>
          <p:nvPr/>
        </p:nvSpPr>
        <p:spPr>
          <a:xfrm>
            <a:off x="1380744" y="3095244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750" dirty="0"/>
          </a:p>
        </p:txBody>
      </p:sp>
      <p:sp>
        <p:nvSpPr>
          <p:cNvPr id="2053" name="Shape 2053"/>
          <p:cNvSpPr txBox="1"/>
          <p:nvPr/>
        </p:nvSpPr>
        <p:spPr>
          <a:xfrm>
            <a:off x="2386584" y="3095244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m</a:t>
            </a:r>
            <a:endParaRPr lang="en-US" sz="750" dirty="0"/>
          </a:p>
        </p:txBody>
      </p:sp>
      <p:sp>
        <p:nvSpPr>
          <p:cNvPr id="2054" name="Shape 2054"/>
          <p:cNvSpPr txBox="1"/>
          <p:nvPr/>
        </p:nvSpPr>
        <p:spPr>
          <a:xfrm>
            <a:off x="3392424" y="309524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$1.636.356</a:t>
            </a:r>
            <a:endParaRPr lang="en-US" sz="750" dirty="0"/>
          </a:p>
        </p:txBody>
      </p:sp>
      <p:sp>
        <p:nvSpPr>
          <p:cNvPr id="2055" name="Shape 2055"/>
          <p:cNvSpPr/>
          <p:nvPr/>
        </p:nvSpPr>
        <p:spPr>
          <a:xfrm>
            <a:off x="164592" y="3328416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56" name="Shape 2056"/>
          <p:cNvSpPr/>
          <p:nvPr/>
        </p:nvSpPr>
        <p:spPr>
          <a:xfrm>
            <a:off x="1353312" y="3328416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57" name="Shape 2057"/>
          <p:cNvSpPr/>
          <p:nvPr/>
        </p:nvSpPr>
        <p:spPr>
          <a:xfrm>
            <a:off x="2359152" y="3328416"/>
            <a:ext cx="100584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58" name="Shape 2058"/>
          <p:cNvSpPr/>
          <p:nvPr/>
        </p:nvSpPr>
        <p:spPr>
          <a:xfrm>
            <a:off x="3364992" y="3328416"/>
            <a:ext cx="1188720" cy="256032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59" name="Shape 2059"/>
          <p:cNvSpPr txBox="1"/>
          <p:nvPr/>
        </p:nvSpPr>
        <p:spPr>
          <a:xfrm>
            <a:off x="192024" y="33558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endParaRPr lang="en-US" sz="750" dirty="0"/>
          </a:p>
        </p:txBody>
      </p:sp>
      <p:sp>
        <p:nvSpPr>
          <p:cNvPr id="2060" name="Shape 2060"/>
          <p:cNvSpPr txBox="1"/>
          <p:nvPr/>
        </p:nvSpPr>
        <p:spPr>
          <a:xfrm>
            <a:off x="1380744" y="3355848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</a:t>
            </a:r>
            <a:endParaRPr lang="en-US" sz="750" dirty="0"/>
          </a:p>
        </p:txBody>
      </p:sp>
      <p:sp>
        <p:nvSpPr>
          <p:cNvPr id="2061" name="Shape 2061"/>
          <p:cNvSpPr txBox="1"/>
          <p:nvPr/>
        </p:nvSpPr>
        <p:spPr>
          <a:xfrm>
            <a:off x="2386584" y="3355848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m</a:t>
            </a:r>
            <a:endParaRPr lang="en-US" sz="750" dirty="0"/>
          </a:p>
        </p:txBody>
      </p:sp>
      <p:sp>
        <p:nvSpPr>
          <p:cNvPr id="2062" name="Shape 2062"/>
          <p:cNvSpPr txBox="1"/>
          <p:nvPr/>
        </p:nvSpPr>
        <p:spPr>
          <a:xfrm>
            <a:off x="3392424" y="3355848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$741.504</a:t>
            </a:r>
            <a:endParaRPr lang="en-US" sz="750" dirty="0"/>
          </a:p>
        </p:txBody>
      </p:sp>
      <p:sp>
        <p:nvSpPr>
          <p:cNvPr id="2063" name="Shape 2063"/>
          <p:cNvSpPr/>
          <p:nvPr/>
        </p:nvSpPr>
        <p:spPr>
          <a:xfrm>
            <a:off x="164592" y="3589020"/>
            <a:ext cx="1188720" cy="2560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64" name="Shape 2064"/>
          <p:cNvSpPr/>
          <p:nvPr/>
        </p:nvSpPr>
        <p:spPr>
          <a:xfrm>
            <a:off x="1353312" y="3589020"/>
            <a:ext cx="1005840" cy="2560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65" name="Shape 2065"/>
          <p:cNvSpPr/>
          <p:nvPr/>
        </p:nvSpPr>
        <p:spPr>
          <a:xfrm>
            <a:off x="2359152" y="3589020"/>
            <a:ext cx="1005840" cy="2560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66" name="Shape 2066"/>
          <p:cNvSpPr/>
          <p:nvPr/>
        </p:nvSpPr>
        <p:spPr>
          <a:xfrm>
            <a:off x="3364992" y="3589020"/>
            <a:ext cx="1188720" cy="256032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67" name="Shape 2067"/>
          <p:cNvSpPr txBox="1"/>
          <p:nvPr/>
        </p:nvSpPr>
        <p:spPr>
          <a:xfrm>
            <a:off x="192024" y="361645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750" dirty="0"/>
          </a:p>
        </p:txBody>
      </p:sp>
      <p:sp>
        <p:nvSpPr>
          <p:cNvPr id="2068" name="Shape 2068"/>
          <p:cNvSpPr txBox="1"/>
          <p:nvPr/>
        </p:nvSpPr>
        <p:spPr>
          <a:xfrm>
            <a:off x="1380744" y="361645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</a:t>
            </a:r>
            <a:endParaRPr lang="en-US" sz="750" dirty="0"/>
          </a:p>
        </p:txBody>
      </p:sp>
      <p:sp>
        <p:nvSpPr>
          <p:cNvPr id="2069" name="Shape 2069"/>
          <p:cNvSpPr txBox="1"/>
          <p:nvPr/>
        </p:nvSpPr>
        <p:spPr>
          <a:xfrm>
            <a:off x="2386584" y="3616452"/>
            <a:ext cx="950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883 m</a:t>
            </a:r>
            <a:endParaRPr lang="en-US" sz="750" dirty="0"/>
          </a:p>
        </p:txBody>
      </p:sp>
      <p:sp>
        <p:nvSpPr>
          <p:cNvPr id="2070" name="Shape 2070"/>
          <p:cNvSpPr txBox="1"/>
          <p:nvPr/>
        </p:nvSpPr>
        <p:spPr>
          <a:xfrm>
            <a:off x="3392424" y="3616452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</a:t>
            </a:r>
            <a:endParaRPr lang="en-US" sz="750" dirty="0"/>
          </a:p>
        </p:txBody>
      </p:sp>
      <p:sp>
        <p:nvSpPr>
          <p:cNvPr id="2071" name="Shape 2071"/>
          <p:cNvSpPr txBox="1"/>
          <p:nvPr/>
        </p:nvSpPr>
        <p:spPr>
          <a:xfrm>
            <a:off x="164592" y="397306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Julio extrapolado (245 m) con la misma proporción de etapas del resto del período (5,4% antes de sublimar).</a:t>
            </a:r>
            <a:endParaRPr lang="en-US" sz="700" dirty="0"/>
          </a:p>
          <a:p>
            <a:pPr algn="l" indent="0" marL="0">
              <a:buNone/>
            </a:pPr>
            <a:r>
              <a:rPr lang="en-US" sz="7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marca "antes de sublimar" sólo con evidencia en el chat WA o en el Control de Ploteo (pieza que no venía en la impresión, o reproceso frenado a tiempo). Si no hay claridad se asume reproceso completo. Corte no valorizado.</a:t>
            </a:r>
            <a:endParaRPr lang="en-US" sz="700" dirty="0"/>
          </a:p>
        </p:txBody>
      </p:sp>
      <p:sp>
        <p:nvSpPr>
          <p:cNvPr id="2072" name="Shape 2072"/>
          <p:cNvSpPr/>
          <p:nvPr/>
        </p:nvSpPr>
        <p:spPr>
          <a:xfrm>
            <a:off x="4846320" y="1938528"/>
            <a:ext cx="2011680" cy="914400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73" name="Shape 2073"/>
          <p:cNvSpPr/>
          <p:nvPr/>
        </p:nvSpPr>
        <p:spPr>
          <a:xfrm>
            <a:off x="4846320" y="1938528"/>
            <a:ext cx="2011680" cy="45720"/>
          </a:xfrm>
          <a:prstGeom prst="rect">
            <a:avLst/>
          </a:prstGeom>
          <a:solidFill>
            <a:srgbClr val="1B7F4A"/>
          </a:solidFill>
          <a:ln/>
        </p:spPr>
        <p:txBody>
          <a:bodyPr/>
          <a:p/>
        </p:txBody>
      </p:sp>
      <p:sp>
        <p:nvSpPr>
          <p:cNvPr id="2074" name="Shape 2074"/>
          <p:cNvSpPr txBox="1"/>
          <p:nvPr/>
        </p:nvSpPr>
        <p:spPr>
          <a:xfrm>
            <a:off x="4974336" y="204825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REIMPRESIÓN</a:t>
            </a:r>
            <a:endParaRPr lang="en-US" sz="750" dirty="0"/>
          </a:p>
        </p:txBody>
      </p:sp>
      <p:sp>
        <p:nvSpPr>
          <p:cNvPr id="2075" name="Shape 2075"/>
          <p:cNvSpPr txBox="1"/>
          <p:nvPr/>
        </p:nvSpPr>
        <p:spPr>
          <a:xfrm>
            <a:off x="4974336" y="223113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$120.912</a:t>
            </a:r>
            <a:endParaRPr lang="en-US" sz="2200" dirty="0"/>
          </a:p>
        </p:txBody>
      </p:sp>
      <p:sp>
        <p:nvSpPr>
          <p:cNvPr id="2076" name="Shape 2076"/>
          <p:cNvSpPr txBox="1"/>
          <p:nvPr/>
        </p:nvSpPr>
        <p:spPr>
          <a:xfrm>
            <a:off x="4974336" y="259689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 · 5% de los metros</a:t>
            </a:r>
            <a:endParaRPr lang="en-US" sz="800" dirty="0"/>
          </a:p>
        </p:txBody>
      </p:sp>
      <p:sp>
        <p:nvSpPr>
          <p:cNvPr id="2077" name="Shape 2077"/>
          <p:cNvSpPr/>
          <p:nvPr/>
        </p:nvSpPr>
        <p:spPr>
          <a:xfrm>
            <a:off x="6967728" y="1938528"/>
            <a:ext cx="2011680" cy="914400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p/>
        </p:txBody>
      </p:sp>
      <p:sp>
        <p:nvSpPr>
          <p:cNvPr id="2078" name="Shape 2078"/>
          <p:cNvSpPr/>
          <p:nvPr/>
        </p:nvSpPr>
        <p:spPr>
          <a:xfrm>
            <a:off x="6967728" y="1938528"/>
            <a:ext cx="2011680" cy="45720"/>
          </a:xfrm>
          <a:prstGeom prst="rect">
            <a:avLst/>
          </a:prstGeom>
          <a:solidFill>
            <a:srgbClr val="ED6C23"/>
          </a:solidFill>
          <a:ln/>
        </p:spPr>
        <p:txBody>
          <a:bodyPr/>
          <a:p/>
        </p:txBody>
      </p:sp>
      <p:sp>
        <p:nvSpPr>
          <p:cNvPr id="2079" name="Shape 2079"/>
          <p:cNvSpPr txBox="1"/>
          <p:nvPr/>
        </p:nvSpPr>
        <p:spPr>
          <a:xfrm>
            <a:off x="7095744" y="204825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REPROCESO COMPLETO</a:t>
            </a:r>
            <a:endParaRPr lang="en-US" sz="750" dirty="0"/>
          </a:p>
        </p:txBody>
      </p:sp>
      <p:sp>
        <p:nvSpPr>
          <p:cNvPr id="2080" name="Shape 2080"/>
          <p:cNvSpPr txBox="1"/>
          <p:nvPr/>
        </p:nvSpPr>
        <p:spPr>
          <a:xfrm>
            <a:off x="7095744" y="2231136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$5.295.420</a:t>
            </a:r>
            <a:endParaRPr lang="en-US" sz="2200" dirty="0"/>
          </a:p>
        </p:txBody>
      </p:sp>
      <p:sp>
        <p:nvSpPr>
          <p:cNvPr id="2081" name="Shape 2081"/>
          <p:cNvSpPr txBox="1"/>
          <p:nvPr/>
        </p:nvSpPr>
        <p:spPr>
          <a:xfrm>
            <a:off x="7095744" y="2596896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883 m · 95% de los metros</a:t>
            </a:r>
            <a:endParaRPr lang="en-US" sz="800" dirty="0"/>
          </a:p>
        </p:txBody>
      </p:sp>
      <p:sp>
        <p:nvSpPr>
          <p:cNvPr id="2082" name="Shape 2082"/>
          <p:cNvSpPr/>
          <p:nvPr/>
        </p:nvSpPr>
        <p:spPr>
          <a:xfrm>
            <a:off x="4846320" y="2980944"/>
            <a:ext cx="4133088" cy="841248"/>
          </a:xfrm>
          <a:prstGeom prst="rect">
            <a:avLst/>
          </a:prstGeom>
          <a:solidFill>
            <a:srgbClr val="ED6C23"/>
          </a:solidFill>
          <a:ln/>
        </p:spPr>
      </p:sp>
      <p:sp>
        <p:nvSpPr>
          <p:cNvPr id="2083" name="Shape 2083"/>
          <p:cNvSpPr txBox="1"/>
          <p:nvPr/>
        </p:nvSpPr>
        <p:spPr>
          <a:xfrm>
            <a:off x="4983480" y="3035808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ANTES DE SUBLIMAR AHORRÓ $181.368</a:t>
            </a:r>
            <a:endParaRPr lang="en-US" sz="75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50 m (5%) tienen evidencia de haberse frenado antes de sublimar. Cada metro frenado a tiempo ahorra $3.600: registrar la etapa en cada reproceso.</a:t>
            </a:r>
            <a:endParaRPr lang="en-US" sz="750" dirty="0"/>
          </a:p>
        </p:txBody>
      </p:sp>
      <p:sp>
        <p:nvSpPr>
          <p:cNvPr id="2084" name="Shape 2084"/>
          <p:cNvSpPr/>
          <p:nvPr/>
        </p:nvSpPr>
        <p:spPr>
          <a:xfrm>
            <a:off x="4846320" y="3931920"/>
            <a:ext cx="4133088" cy="804672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2085" name="Shape 2085"/>
          <p:cNvSpPr txBox="1"/>
          <p:nvPr/>
        </p:nvSpPr>
        <p:spPr>
          <a:xfrm>
            <a:off x="4983480" y="3995928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TOTAL MAY–SEP (SEGÚN ETAPA)</a:t>
            </a:r>
            <a:endParaRPr lang="en-US" sz="750" dirty="0"/>
          </a:p>
        </p:txBody>
      </p:sp>
      <p:sp>
        <p:nvSpPr>
          <p:cNvPr id="2086" name="Shape 2086"/>
          <p:cNvSpPr txBox="1"/>
          <p:nvPr/>
        </p:nvSpPr>
        <p:spPr>
          <a:xfrm>
            <a:off x="4983480" y="4160520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D6C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$5.416.332 CLP</a:t>
            </a:r>
            <a:endParaRPr lang="en-US" sz="2200" dirty="0"/>
          </a:p>
        </p:txBody>
      </p:sp>
      <p:sp>
        <p:nvSpPr>
          <p:cNvPr id="2087" name="Shape 2087"/>
          <p:cNvSpPr txBox="1"/>
          <p:nvPr/>
        </p:nvSpPr>
        <p:spPr>
          <a:xfrm>
            <a:off x="4983480" y="4498848"/>
            <a:ext cx="3858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se contara como reproceso completo: $5.597.700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PMK Informe Septiembre 2026</dc:title>
  <dc:subject>PptxGenJS Presentation</dc:subject>
  <dc:creator>PptxGenJS</dc:creator>
  <cp:lastModifiedBy>PptxGenJS</cp:lastModifiedBy>
  <cp:revision>1</cp:revision>
  <dcterms:created xsi:type="dcterms:W3CDTF">2026-08-31T13:07:26Z</dcterms:created>
  <dcterms:modified xsi:type="dcterms:W3CDTF">2026-08-31T13:07:26Z</dcterms:modified>
</cp:coreProperties>
</file>