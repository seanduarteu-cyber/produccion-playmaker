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Producción (m)</c:v>
                </c:pt>
              </c:strCache>
            </c:strRef>
          </c:tx>
          <c:spPr>
            <a:solidFill>
              <a:srgbClr val="1B7F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MAY</c:v>
                  </c:pt>
                  <c:pt idx="1">
                    <c:v>JUN</c:v>
                  </c:pt>
                  <c:pt idx="2">
                    <c:v>JUL*</c:v>
                  </c:pt>
                  <c:pt idx="3">
                    <c:v>AGO</c:v>
                  </c:pt>
                  <c:pt idx="4">
                    <c:v>SEP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1890</c:v>
                </c:pt>
                <c:pt idx="1">
                  <c:v>1864</c:v>
                </c:pt>
                <c:pt idx="2">
                  <c:v>1901</c:v>
                </c:pt>
                <c:pt idx="3">
                  <c:v>1722</c:v>
                </c:pt>
                <c:pt idx="4">
                  <c:v>2098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Reproceso (m)</c:v>
                </c:pt>
              </c:strCache>
            </c:strRef>
          </c:tx>
          <c:spPr>
            <a:solidFill>
              <a:srgbClr val="ED6C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MAY</c:v>
                  </c:pt>
                  <c:pt idx="1">
                    <c:v>JUN</c:v>
                  </c:pt>
                  <c:pt idx="2">
                    <c:v>JUL*</c:v>
                  </c:pt>
                  <c:pt idx="3">
                    <c:v>AGO</c:v>
                  </c:pt>
                  <c:pt idx="4">
                    <c:v>SEP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133</c:v>
                </c:pt>
                <c:pt idx="1">
                  <c:v>149</c:v>
                </c:pt>
                <c:pt idx="2">
                  <c:v>245</c:v>
                </c:pt>
                <c:pt idx="3">
                  <c:v>279</c:v>
                </c:pt>
                <c:pt idx="4">
                  <c:v>127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9A9A9A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9A9A9A"/>
                    </a:solidFill>
                    <a:latin typeface="Arial"/>
                  </a:rPr>
                  <a:t>Metros impresos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9A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Real / estimado</c:v>
                </c:pt>
              </c:strCache>
            </c:strRef>
          </c:tx>
          <c:spPr>
            <a:solidFill>
              <a:srgbClr val="FFFFFF"/>
            </a:solidFill>
            <a:ln w="254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dLbl>
              <c:idx val="4"/>
              <c:numFmt formatCode="0.0" sourceLinked="0"/>
              <c:txPr>
                <a:bodyPr/>
                <a:lstStyle/>
                <a:p>
                  <a:pPr>
                    <a:defRPr b="1" i="0" strike="noStrike" sz="900" u="non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FF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MAY</c:v>
                  </c:pt>
                  <c:pt idx="1">
                    <c:v>JUN</c:v>
                  </c:pt>
                  <c:pt idx="2">
                    <c:v>JUL*</c:v>
                  </c:pt>
                  <c:pt idx="3">
                    <c:v>AGO</c:v>
                  </c:pt>
                  <c:pt idx="4">
                    <c:v>SEP.</c:v>
                  </c:pt>
                  <c:pt idx="5">
                    <c:v>OCT.</c:v>
                  </c:pt>
                  <c:pt idx="6">
                    <c:v>NOV.</c:v>
                  </c:pt>
                  <c:pt idx="7">
                    <c:v>DIC.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6.6</c:v>
                </c:pt>
                <c:pt idx="1">
                  <c:v>7.4</c:v>
                </c:pt>
                <c:pt idx="2">
                  <c:v>11.4</c:v>
                </c:pt>
                <c:pt idx="3">
                  <c:v>13.9</c:v>
                </c:pt>
                <c:pt idx="4">
                  <c:v>5.7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 mensual (hoja de ruta)</c:v>
                </c:pt>
              </c:strCache>
            </c:strRef>
          </c:tx>
          <c:spPr>
            <a:solidFill>
              <a:srgbClr val="2C5F8A"/>
            </a:solidFill>
            <a:ln w="25400" cap="flat">
              <a:solidFill>
                <a:srgbClr val="2C5F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C5F8A"/>
              </a:solidFill>
              <a:ln w="9525" cap="flat">
                <a:solidFill>
                  <a:srgbClr val="2C5F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MAY</c:v>
                  </c:pt>
                  <c:pt idx="1">
                    <c:v>JUN</c:v>
                  </c:pt>
                  <c:pt idx="2">
                    <c:v>JUL*</c:v>
                  </c:pt>
                  <c:pt idx="3">
                    <c:v>AGO</c:v>
                  </c:pt>
                  <c:pt idx="4">
                    <c:v>SEP.</c:v>
                  </c:pt>
                  <c:pt idx="5">
                    <c:v>OCT.</c:v>
                  </c:pt>
                  <c:pt idx="6">
                    <c:v>NOV.</c:v>
                  </c:pt>
                  <c:pt idx="7">
                    <c:v>DIC.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11</c:v>
                </c:pt>
                <c:pt idx="5">
                  <c:v>8</c:v>
                </c:pt>
                <c:pt idx="6">
                  <c:v>6</c:v>
                </c:pt>
                <c:pt idx="7">
                  <c:v>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Meta ≤5%</c:v>
                </c:pt>
              </c:strCache>
            </c:strRef>
          </c:tx>
          <c:spPr>
            <a:solidFill>
              <a:srgbClr val="1B7F4A"/>
            </a:solidFill>
            <a:ln w="25400" cap="flat">
              <a:solidFill>
                <a:srgbClr val="1B7F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B7F4A"/>
              </a:solidFill>
              <a:ln w="9525" cap="flat">
                <a:solidFill>
                  <a:srgbClr val="1B7F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MAY</c:v>
                  </c:pt>
                  <c:pt idx="1">
                    <c:v>JUN</c:v>
                  </c:pt>
                  <c:pt idx="2">
                    <c:v>JUL*</c:v>
                  </c:pt>
                  <c:pt idx="3">
                    <c:v>AGO</c:v>
                  </c:pt>
                  <c:pt idx="4">
                    <c:v>SEP.</c:v>
                  </c:pt>
                  <c:pt idx="5">
                    <c:v>OCT.</c:v>
                  </c:pt>
                  <c:pt idx="6">
                    <c:v>NOV.</c:v>
                  </c:pt>
                  <c:pt idx="7">
                    <c:v>DIC.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9A9A9A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9A9A9A"/>
                    </a:solidFill>
                    <a:latin typeface="Arial"/>
                  </a:rPr>
                  <a:t>% reproceso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9A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5070348"/>
            <a:ext cx="9034272" cy="73152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PLAYMAKER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INTEGRADO — PRODUCCIÓN VS. DEFECTOS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359152"/>
            <a:ext cx="4114800" cy="36576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Ploteo  +  Control de Defectos de Producción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7980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 2026   |   Indicadores verificados contra chat WA   |   % = reproc/(prod+reproc)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5029200" cy="111556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291840"/>
            <a:ext cx="5029200" cy="54864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34381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 EVENTOS   •   1.045 PRENDAS   •   $7.343.250 CLP COSTO ESTIMADO</a:t>
            </a:r>
            <a:endParaRPr lang="en-US" sz="1050" dirty="0"/>
          </a:p>
        </p:txBody>
      </p:sp>
      <p:sp>
        <p:nvSpPr>
          <p:cNvPr id="1001" name="Text 10 copy 1001"/>
          <p:cNvSpPr txBox="1"/>
          <p:nvPr/>
        </p:nvSpPr>
        <p:spPr>
          <a:xfrm>
            <a:off x="502920" y="3913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SEPTIEMBRE: 5,7% REPROCESO (META ≤11% ✓)   •   127 m   •   51 EVENTOS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526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CLUB, UNA FAMILIA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754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www.playmaker.cl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8600" y="1645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28600" y="4754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reproceso = reproc ÷ (prod+reproc)  |  $6.000 CLP/metro  |  Motivos verificados con chat WA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" y="868680"/>
            <a:ext cx="2103120" cy="98755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" y="868680"/>
            <a:ext cx="2103120" cy="45720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2608" y="97840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METROS REPROCESADOS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292608" y="116128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933 m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92608" y="160020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may–sep (jul. estimado)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22576" y="868680"/>
            <a:ext cx="2103120" cy="98755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3" name="Shape 11"/>
          <p:cNvSpPr/>
          <p:nvPr/>
        </p:nvSpPr>
        <p:spPr>
          <a:xfrm>
            <a:off x="2322576" y="868680"/>
            <a:ext cx="2103120" cy="45720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450592" y="97840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REPROCESO GLOBAL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2450592" y="116128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450592" y="160020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reproc/(prod+reproc)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80560" y="868680"/>
            <a:ext cx="2103120" cy="98755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8" name="Shape 16"/>
          <p:cNvSpPr/>
          <p:nvPr/>
        </p:nvSpPr>
        <p:spPr>
          <a:xfrm>
            <a:off x="4480560" y="868680"/>
            <a:ext cx="2103120" cy="45720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08576" y="97840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DEFECTO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4608576" y="116128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608576" y="160020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WhatsApp WA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38544" y="868680"/>
            <a:ext cx="2103120" cy="98755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3" name="Shape 21"/>
          <p:cNvSpPr/>
          <p:nvPr/>
        </p:nvSpPr>
        <p:spPr>
          <a:xfrm>
            <a:off x="6638544" y="868680"/>
            <a:ext cx="2103120" cy="45720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66560" y="97840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ESTIMADO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116128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$7.343.250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160020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CLP mayo–septiembre 2026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4592" y="1956816"/>
            <a:ext cx="1417320" cy="338785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01168" y="1984248"/>
            <a:ext cx="134416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581912" y="1956816"/>
            <a:ext cx="804672" cy="338785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618488" y="1984248"/>
            <a:ext cx="73152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MTS PROD.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386584" y="1956816"/>
            <a:ext cx="804672" cy="338785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423160" y="1984248"/>
            <a:ext cx="73152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MTS REPROC.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191256" y="1956816"/>
            <a:ext cx="749808" cy="338785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227832" y="1984248"/>
            <a:ext cx="67665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REPROC.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41064" y="1956816"/>
            <a:ext cx="667512" cy="338785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977640" y="1984248"/>
            <a:ext cx="59436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608576" y="1956816"/>
            <a:ext cx="667512" cy="338785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645152" y="1984248"/>
            <a:ext cx="59436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PRENDAS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276088" y="1956816"/>
            <a:ext cx="1417320" cy="338785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312664" y="1984248"/>
            <a:ext cx="134416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ESTIMADO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693408" y="1956816"/>
            <a:ext cx="1371600" cy="338785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29984" y="1984248"/>
            <a:ext cx="12984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(P+R)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64592" y="2555748"/>
            <a:ext cx="1417320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92024" y="2592324"/>
            <a:ext cx="13624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 2026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581912" y="2555748"/>
            <a:ext cx="804672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609344" y="2592324"/>
            <a:ext cx="7498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1.890m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386584" y="2555748"/>
            <a:ext cx="804672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2414016" y="2592324"/>
            <a:ext cx="7498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133m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191256" y="2555748"/>
            <a:ext cx="749808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3218688" y="2592324"/>
            <a:ext cx="69494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7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941064" y="2555748"/>
            <a:ext cx="667512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3968496" y="2592324"/>
            <a:ext cx="6126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608576" y="2555748"/>
            <a:ext cx="667512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636008" y="2592324"/>
            <a:ext cx="6126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276088" y="2555748"/>
            <a:ext cx="1417320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303520" y="2592324"/>
            <a:ext cx="13624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$337.500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693408" y="2555748"/>
            <a:ext cx="1371600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720840" y="2592324"/>
            <a:ext cx="13167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2.023m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64592" y="2816352"/>
            <a:ext cx="1417320" cy="26060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192024" y="2852928"/>
            <a:ext cx="13624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 2026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581912" y="2816352"/>
            <a:ext cx="804672" cy="26060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609344" y="2852928"/>
            <a:ext cx="7498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1.864m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386584" y="2816352"/>
            <a:ext cx="804672" cy="26060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2414016" y="2852928"/>
            <a:ext cx="7498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149m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191256" y="2816352"/>
            <a:ext cx="749808" cy="26060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3218688" y="2852928"/>
            <a:ext cx="69494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941064" y="2816352"/>
            <a:ext cx="667512" cy="26060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3968496" y="2852928"/>
            <a:ext cx="6126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608576" y="2816352"/>
            <a:ext cx="667512" cy="26060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636008" y="2852928"/>
            <a:ext cx="6126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157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276088" y="2816352"/>
            <a:ext cx="1417320" cy="26060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5303520" y="2852928"/>
            <a:ext cx="13624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$1.349.250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693408" y="2816352"/>
            <a:ext cx="1371600" cy="26060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6720840" y="2852928"/>
            <a:ext cx="13167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2.013m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164592" y="3076956"/>
            <a:ext cx="1417320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192024" y="3113532"/>
            <a:ext cx="13624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2026*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1581912" y="3076956"/>
            <a:ext cx="804672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1609344" y="3113532"/>
            <a:ext cx="7498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1.901m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386584" y="3076956"/>
            <a:ext cx="804672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2414016" y="3113532"/>
            <a:ext cx="7498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245m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191256" y="3076956"/>
            <a:ext cx="749808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3218688" y="3113532"/>
            <a:ext cx="69494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3941064" y="3076956"/>
            <a:ext cx="667512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3968496" y="3113532"/>
            <a:ext cx="6126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608576" y="3076956"/>
            <a:ext cx="667512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4636008" y="3113532"/>
            <a:ext cx="6126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286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276088" y="3076956"/>
            <a:ext cx="1417320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5303520" y="3113532"/>
            <a:ext cx="13624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$1.930.500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6693408" y="3076956"/>
            <a:ext cx="1371600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6720840" y="3113532"/>
            <a:ext cx="13167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2.146m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164592" y="3337560"/>
            <a:ext cx="1417320" cy="26060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92024" y="3374136"/>
            <a:ext cx="13624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2026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1581912" y="3337560"/>
            <a:ext cx="804672" cy="26060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1609344" y="3374136"/>
            <a:ext cx="7498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1.722m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386584" y="3337560"/>
            <a:ext cx="804672" cy="26060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2414016" y="3374136"/>
            <a:ext cx="7498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279m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3191256" y="3337560"/>
            <a:ext cx="749808" cy="26060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3218688" y="3374136"/>
            <a:ext cx="69494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3941064" y="3337560"/>
            <a:ext cx="667512" cy="26060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3968496" y="3374136"/>
            <a:ext cx="6126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608576" y="3337560"/>
            <a:ext cx="667512" cy="26060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4636008" y="3374136"/>
            <a:ext cx="6126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5276088" y="3337560"/>
            <a:ext cx="1417320" cy="26060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5303520" y="3374136"/>
            <a:ext cx="13624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$1.336.500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6693408" y="3337560"/>
            <a:ext cx="1371600" cy="260604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6720840" y="3374136"/>
            <a:ext cx="13167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2.001m</a:t>
            </a:r>
            <a:endParaRPr lang="en-US" sz="750" dirty="0"/>
          </a:p>
        </p:txBody>
      </p:sp>
      <p:sp>
        <p:nvSpPr>
          <p:cNvPr id="1002" name="Shape 73 copy 1002"/>
          <p:cNvSpPr/>
          <p:nvPr/>
        </p:nvSpPr>
        <p:spPr>
          <a:xfrm>
            <a:off x="164592" y="3598164"/>
            <a:ext cx="1417320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003" name="Text 74 copy 1003"/>
          <p:cNvSpPr txBox="1"/>
          <p:nvPr/>
        </p:nvSpPr>
        <p:spPr>
          <a:xfrm>
            <a:off x="192024" y="3634740"/>
            <a:ext cx="13624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 2026</a:t>
            </a:r>
            <a:endParaRPr lang="en-US" sz="750" dirty="0"/>
          </a:p>
        </p:txBody>
      </p:sp>
      <p:sp>
        <p:nvSpPr>
          <p:cNvPr id="1004" name="Shape 75 copy 1004"/>
          <p:cNvSpPr/>
          <p:nvPr/>
        </p:nvSpPr>
        <p:spPr>
          <a:xfrm>
            <a:off x="1581912" y="3598164"/>
            <a:ext cx="804672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005" name="Text 76 copy 1005"/>
          <p:cNvSpPr txBox="1"/>
          <p:nvPr/>
        </p:nvSpPr>
        <p:spPr>
          <a:xfrm>
            <a:off x="1609344" y="3634740"/>
            <a:ext cx="7498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2.098m</a:t>
            </a:r>
            <a:endParaRPr lang="en-US" sz="750" dirty="0"/>
          </a:p>
        </p:txBody>
      </p:sp>
      <p:sp>
        <p:nvSpPr>
          <p:cNvPr id="1006" name="Shape 77 copy 1006"/>
          <p:cNvSpPr/>
          <p:nvPr/>
        </p:nvSpPr>
        <p:spPr>
          <a:xfrm>
            <a:off x="2386584" y="3598164"/>
            <a:ext cx="804672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007" name="Text 78 copy 1007"/>
          <p:cNvSpPr txBox="1"/>
          <p:nvPr/>
        </p:nvSpPr>
        <p:spPr>
          <a:xfrm>
            <a:off x="2414016" y="3634740"/>
            <a:ext cx="7498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127m</a:t>
            </a:r>
            <a:endParaRPr lang="en-US" sz="750" dirty="0"/>
          </a:p>
        </p:txBody>
      </p:sp>
      <p:sp>
        <p:nvSpPr>
          <p:cNvPr id="1008" name="Shape 79 copy 1008"/>
          <p:cNvSpPr/>
          <p:nvPr/>
        </p:nvSpPr>
        <p:spPr>
          <a:xfrm>
            <a:off x="3191256" y="3598164"/>
            <a:ext cx="749808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009" name="Text 80 copy 1009"/>
          <p:cNvSpPr txBox="1"/>
          <p:nvPr/>
        </p:nvSpPr>
        <p:spPr>
          <a:xfrm>
            <a:off x="3218688" y="3634740"/>
            <a:ext cx="69494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7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750" dirty="0"/>
          </a:p>
        </p:txBody>
      </p:sp>
      <p:sp>
        <p:nvSpPr>
          <p:cNvPr id="1010" name="Shape 81 copy 1010"/>
          <p:cNvSpPr/>
          <p:nvPr/>
        </p:nvSpPr>
        <p:spPr>
          <a:xfrm>
            <a:off x="3941064" y="3598164"/>
            <a:ext cx="667512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011" name="Text 82 copy 1011"/>
          <p:cNvSpPr txBox="1"/>
          <p:nvPr/>
        </p:nvSpPr>
        <p:spPr>
          <a:xfrm>
            <a:off x="3968496" y="3634740"/>
            <a:ext cx="6126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750" dirty="0"/>
          </a:p>
        </p:txBody>
      </p:sp>
      <p:sp>
        <p:nvSpPr>
          <p:cNvPr id="1012" name="Shape 83 copy 1012"/>
          <p:cNvSpPr/>
          <p:nvPr/>
        </p:nvSpPr>
        <p:spPr>
          <a:xfrm>
            <a:off x="4608576" y="3598164"/>
            <a:ext cx="667512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013" name="Text 84 copy 1013"/>
          <p:cNvSpPr txBox="1"/>
          <p:nvPr/>
        </p:nvSpPr>
        <p:spPr>
          <a:xfrm>
            <a:off x="4636008" y="3634740"/>
            <a:ext cx="6126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354</a:t>
            </a:r>
            <a:endParaRPr lang="en-US" sz="750" dirty="0"/>
          </a:p>
        </p:txBody>
      </p:sp>
      <p:sp>
        <p:nvSpPr>
          <p:cNvPr id="1014" name="Shape 85 copy 1014"/>
          <p:cNvSpPr/>
          <p:nvPr/>
        </p:nvSpPr>
        <p:spPr>
          <a:xfrm>
            <a:off x="5276088" y="3598164"/>
            <a:ext cx="1417320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015" name="Text 86 copy 1015"/>
          <p:cNvSpPr txBox="1"/>
          <p:nvPr/>
        </p:nvSpPr>
        <p:spPr>
          <a:xfrm>
            <a:off x="5303520" y="3634740"/>
            <a:ext cx="13624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$2.389.500</a:t>
            </a:r>
            <a:endParaRPr lang="en-US" sz="750" dirty="0"/>
          </a:p>
        </p:txBody>
      </p:sp>
      <p:sp>
        <p:nvSpPr>
          <p:cNvPr id="1016" name="Shape 87 copy 1016"/>
          <p:cNvSpPr/>
          <p:nvPr/>
        </p:nvSpPr>
        <p:spPr>
          <a:xfrm>
            <a:off x="6693408" y="3598164"/>
            <a:ext cx="1371600" cy="26060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017" name="Text 88 copy 1017"/>
          <p:cNvSpPr txBox="1"/>
          <p:nvPr/>
        </p:nvSpPr>
        <p:spPr>
          <a:xfrm>
            <a:off x="6720840" y="3634740"/>
            <a:ext cx="13167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2.225m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164592" y="3858768"/>
            <a:ext cx="1417320" cy="260604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92024" y="3895344"/>
            <a:ext cx="13624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1581912" y="3858768"/>
            <a:ext cx="804672" cy="260604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1609344" y="3895344"/>
            <a:ext cx="7498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9.475m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2386584" y="3858768"/>
            <a:ext cx="804672" cy="260604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2414016" y="3895344"/>
            <a:ext cx="7498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933m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3191256" y="3858768"/>
            <a:ext cx="749808" cy="260604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3218688" y="3895344"/>
            <a:ext cx="69494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3941064" y="3858768"/>
            <a:ext cx="667512" cy="260604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3968496" y="3895344"/>
            <a:ext cx="6126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4608576" y="3858768"/>
            <a:ext cx="667512" cy="260604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4636008" y="3895344"/>
            <a:ext cx="6126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1.045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5276088" y="3858768"/>
            <a:ext cx="1417320" cy="260604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5303520" y="3895344"/>
            <a:ext cx="136245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$7.343.250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6693408" y="3858768"/>
            <a:ext cx="1371600" cy="260604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6720840" y="3895344"/>
            <a:ext cx="13167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10.408m</a:t>
            </a:r>
            <a:endParaRPr lang="en-US" sz="750" dirty="0"/>
          </a:p>
        </p:txBody>
      </p:sp>
      <p:sp>
        <p:nvSpPr>
          <p:cNvPr id="123" name="Text 121"/>
          <p:cNvSpPr txBox="1"/>
          <p:nvPr/>
        </p:nvSpPr>
        <p:spPr>
          <a:xfrm>
            <a:off x="164592" y="431596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Julio extrapolado (registro de ploteo incompleto). Mayo y agosto actualizados con Control de Ploteo v4; agosto suma 3 registros WA del 31-ago. Costo = prendas × 1,125 m × $6.000/m (papel, ploteo y sublimación).</a:t>
            </a:r>
            <a:endParaRPr lang="en-US" sz="700" dirty="0"/>
          </a:p>
          <a:p>
            <a:pPr algn="l" indent="0" marL="0">
              <a:buNone/>
            </a:pPr>
            <a:r>
              <a:rPr lang="en-US" sz="7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 Sep.: 4 registros de paños/piezas (Geología 70 cuellos, Vosterh 58 camisetas, Rugby Maule 50 patas, Mackay 31 patas) = $1.410.750 del costo. Por metros de ploteo: 127 m × $6.000 = $762.780.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8600" y="14630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PROYECCIÓN — METROS PRODUCCIÓN VS. REPROCESO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28600" y="4572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= reproc ÷ (prod+reproc)  |  Base excluye moldes, muestras y pruebas de color</a:t>
            </a:r>
            <a:endParaRPr lang="en-US" sz="8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64592" y="82296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822960"/>
            <a:ext cx="3310128" cy="39319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9" name="Shape 6"/>
          <p:cNvSpPr/>
          <p:nvPr/>
        </p:nvSpPr>
        <p:spPr>
          <a:xfrm>
            <a:off x="5669280" y="822960"/>
            <a:ext cx="3310128" cy="45720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806440" y="9144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DEL PERÍODO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06440" y="1280160"/>
            <a:ext cx="3063240" cy="365760"/>
          </a:xfrm>
          <a:prstGeom prst="rect">
            <a:avLst/>
          </a:prstGeom>
          <a:solidFill>
            <a:srgbClr val="0A2D1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25312" y="13167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13167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7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13167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BAJO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06440" y="1682496"/>
            <a:ext cx="3063240" cy="365760"/>
          </a:xfrm>
          <a:prstGeom prst="rect">
            <a:avLst/>
          </a:prstGeom>
          <a:solidFill>
            <a:srgbClr val="2D1A0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25312" y="17190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7086600" y="17190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171907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MOD.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806440" y="2084832"/>
            <a:ext cx="3063240" cy="365760"/>
          </a:xfrm>
          <a:prstGeom prst="rect">
            <a:avLst/>
          </a:prstGeom>
          <a:solidFill>
            <a:srgbClr val="2D0A0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925312" y="21214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JULIO*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7086600" y="21214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138160" y="21214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ALTO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806440" y="2487168"/>
            <a:ext cx="3063240" cy="365760"/>
          </a:xfrm>
          <a:prstGeom prst="rect">
            <a:avLst/>
          </a:prstGeom>
          <a:solidFill>
            <a:srgbClr val="2D0A0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925312" y="25237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7086600" y="25237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138160" y="252374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ALTO</a:t>
            </a:r>
            <a:endParaRPr lang="en-US" sz="900" dirty="0"/>
          </a:p>
        </p:txBody>
      </p:sp>
      <p:sp>
        <p:nvSpPr>
          <p:cNvPr id="1018" name="Shape 8 copy 1018"/>
          <p:cNvSpPr/>
          <p:nvPr/>
        </p:nvSpPr>
        <p:spPr>
          <a:xfrm>
            <a:off x="5806440" y="2889504"/>
            <a:ext cx="3063240" cy="365760"/>
          </a:xfrm>
          <a:prstGeom prst="rect">
            <a:avLst/>
          </a:prstGeom>
          <a:solidFill>
            <a:srgbClr val="0A2D17"/>
          </a:solidFill>
          <a:ln/>
        </p:spPr>
      </p:sp>
      <p:sp>
        <p:nvSpPr>
          <p:cNvPr id="1019" name="Text 9 copy 1019"/>
          <p:cNvSpPr txBox="1"/>
          <p:nvPr/>
        </p:nvSpPr>
        <p:spPr>
          <a:xfrm>
            <a:off x="5925312" y="29260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</a:t>
            </a:r>
            <a:endParaRPr lang="en-US" sz="950" dirty="0"/>
          </a:p>
        </p:txBody>
      </p:sp>
      <p:sp>
        <p:nvSpPr>
          <p:cNvPr id="1020" name="Text 10 copy 1020"/>
          <p:cNvSpPr txBox="1"/>
          <p:nvPr/>
        </p:nvSpPr>
        <p:spPr>
          <a:xfrm>
            <a:off x="7086600" y="2926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7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600" dirty="0"/>
          </a:p>
        </p:txBody>
      </p:sp>
      <p:sp>
        <p:nvSpPr>
          <p:cNvPr id="1021" name="Text 11 copy 1021"/>
          <p:cNvSpPr txBox="1"/>
          <p:nvPr/>
        </p:nvSpPr>
        <p:spPr>
          <a:xfrm>
            <a:off x="8138160" y="2926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BAJO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669280" y="3401568"/>
            <a:ext cx="3310128" cy="530352"/>
          </a:xfrm>
          <a:prstGeom prst="rect">
            <a:avLst/>
          </a:prstGeom>
          <a:solidFill>
            <a:srgbClr val="1B7F4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806440" y="3465576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 VUELVE A ZONA VERDE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13,9% → 5,7%   |   Jul. y ago. superaron el 10%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669280" y="3995928"/>
            <a:ext cx="3310128" cy="7498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806440" y="4059936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ESTIMADO ACUMULADO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5806440" y="429768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$7.343.250 CLP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64592" y="48006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Julio extrapolado. % real: 11,4%. Agosto actualizado con registro de ploteo completo (1.722 m prod. / 279 m reproc.).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8600" y="1463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 % REPROCESO — META ≤5%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28600" y="4297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= reproc ÷ (prod+reproc)  |  Sep.: 5,7% (meta del mes ≤11% cumplida)  →  meta ≤5% diciembre 2026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64592" y="804672"/>
          <a:ext cx="57607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26480" y="804672"/>
            <a:ext cx="2852928" cy="39776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9" name="Shape 6"/>
          <p:cNvSpPr/>
          <p:nvPr/>
        </p:nvSpPr>
        <p:spPr>
          <a:xfrm>
            <a:off x="6126480" y="804672"/>
            <a:ext cx="2852928" cy="45720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63640" y="886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RUTA Q4 2026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11978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~1.900m/mes (prod+reproc)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263640" y="1463040"/>
            <a:ext cx="475488" cy="530352"/>
          </a:xfrm>
          <a:prstGeom prst="rect">
            <a:avLst/>
          </a:prstGeom>
          <a:solidFill>
            <a:srgbClr val="1B7F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63640" y="159105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784848" y="1463040"/>
            <a:ext cx="658368" cy="5303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784848" y="15179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≤11%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784848" y="174650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≤235m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7488936" y="14904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 b="1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Real: 5,7% · 127m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diario papel y calandra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263640" y="2084832"/>
            <a:ext cx="475488" cy="5303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263640" y="2212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84848" y="2084832"/>
            <a:ext cx="658368" cy="5303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784848" y="213969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≤8%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784848" y="236829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≤165m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7488936" y="21762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Chequeo mesa 100% antes imprimir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263640" y="2706624"/>
            <a:ext cx="475488" cy="5303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263640" y="283464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784848" y="2706624"/>
            <a:ext cx="658368" cy="5303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84848" y="27614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≤6%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784848" y="29900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≤121m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7488936" y="27980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semanal del equipo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263640" y="3328416"/>
            <a:ext cx="475488" cy="530352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263640" y="345643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784848" y="3328416"/>
            <a:ext cx="658368" cy="5303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784848" y="3383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7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≤5%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784848" y="361188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≤100m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7488936" y="34198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— KPI operativo consolidado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126480" y="4096512"/>
            <a:ext cx="2852928" cy="685800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263640" y="416052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Q4: ≤100m/mes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263640" y="443484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(prod+reproc) = ≤1 de cada 20m reimpresos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164592" y="4800600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Jul. extrapolado. Blanco = % real. Azul = meta mensual de la hoja de ruta Q4. Verde = meta ≤5% en dic.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01168" y="13716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MOTIVOS DE REPROCESO — CAUSA RAÍZ REAL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01168" y="438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 registro a registro contra chat WA. Papel/calandra → Mesa. Pendientes reales separados.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26280" y="713232"/>
            <a:ext cx="36576" cy="4005072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" y="768096"/>
            <a:ext cx="42976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8600" y="79552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ACUMULADO MAYO – SEPTIEMBRE  (236 eventos)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4592" y="1042416"/>
            <a:ext cx="4297680" cy="27432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11" name="Shape 9"/>
          <p:cNvSpPr/>
          <p:nvPr/>
        </p:nvSpPr>
        <p:spPr>
          <a:xfrm>
            <a:off x="1280160" y="1133856"/>
            <a:ext cx="2331720" cy="310896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64592" y="11430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Mesa/Papel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11430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80  33.9%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80160" y="1504188"/>
            <a:ext cx="1748790" cy="310896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64592" y="151333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Sublimación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3083814" y="15133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60  25.4%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280160" y="1874520"/>
            <a:ext cx="874395" cy="310896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64592" y="188366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209419" y="18836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30  12.7%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280160" y="2244852"/>
            <a:ext cx="378904" cy="310896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64592" y="225399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Faltó imp.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713928" y="22539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13  5.5%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280160" y="2615184"/>
            <a:ext cx="582930" cy="310896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64592" y="262432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917954" y="26243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20  8.5%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280160" y="2985516"/>
            <a:ext cx="495490" cy="310896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64592" y="299466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Confección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830514" y="29946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17  7.2%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280160" y="3355848"/>
            <a:ext cx="466344" cy="310896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64592" y="33649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Diseño/Ficha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801368" y="33649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16  6.8%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81728" y="768096"/>
            <a:ext cx="4297680" cy="2560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3" name="Shape 31"/>
          <p:cNvSpPr/>
          <p:nvPr/>
        </p:nvSpPr>
        <p:spPr>
          <a:xfrm>
            <a:off x="4681728" y="768096"/>
            <a:ext cx="36576" cy="256032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754880" y="79552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 2026  (51 eventos) — Verificado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81728" y="1042416"/>
            <a:ext cx="4297680" cy="27432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36" name="Shape 34"/>
          <p:cNvSpPr/>
          <p:nvPr/>
        </p:nvSpPr>
        <p:spPr>
          <a:xfrm>
            <a:off x="5797296" y="1133856"/>
            <a:ext cx="1943100" cy="310896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681728" y="11430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Mesa/Papel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795260" y="11430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10  19.6%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797296" y="1504188"/>
            <a:ext cx="2331720" cy="310896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681728" y="151333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Sublimación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8183880" y="15133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 b="1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12  23.5%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97296" y="1874520"/>
            <a:ext cx="1360170" cy="310896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681728" y="188366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7212330" y="18836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7  13.7%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797296" y="2244852"/>
            <a:ext cx="388620" cy="310896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681728" y="225399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Faltó imp.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6240780" y="22539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2  3.9%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797296" y="2615184"/>
            <a:ext cx="1360170" cy="310896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681728" y="262432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7212330" y="26243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7  13.7%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797296" y="2985516"/>
            <a:ext cx="1165860" cy="310896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681728" y="299466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Confección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7018020" y="29946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6  11.8%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97296" y="3355848"/>
            <a:ext cx="1360170" cy="310896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681728" y="33649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Diseño/Ficha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7212330" y="33649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7  13.7%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64592" y="3858768"/>
            <a:ext cx="8814816" cy="36576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64592" y="391363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</a:t>
            </a:r>
            <a:endParaRPr lang="en-US" sz="750" dirty="0"/>
          </a:p>
        </p:txBody>
      </p:sp>
      <p:sp>
        <p:nvSpPr>
          <p:cNvPr id="59" name="Text 57"/>
          <p:cNvSpPr txBox="1"/>
          <p:nvPr/>
        </p:nvSpPr>
        <p:spPr>
          <a:xfrm>
            <a:off x="1481328" y="391363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750" dirty="0"/>
          </a:p>
        </p:txBody>
      </p:sp>
      <p:sp>
        <p:nvSpPr>
          <p:cNvPr id="60" name="Text 58"/>
          <p:cNvSpPr txBox="1"/>
          <p:nvPr/>
        </p:nvSpPr>
        <p:spPr>
          <a:xfrm>
            <a:off x="2066544" y="391363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750" dirty="0"/>
          </a:p>
        </p:txBody>
      </p:sp>
      <p:sp>
        <p:nvSpPr>
          <p:cNvPr id="61" name="Text 59"/>
          <p:cNvSpPr txBox="1"/>
          <p:nvPr/>
        </p:nvSpPr>
        <p:spPr>
          <a:xfrm>
            <a:off x="2651760" y="391363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3236976" y="391363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</a:t>
            </a:r>
            <a:endParaRPr lang="en-US" sz="750" dirty="0"/>
          </a:p>
        </p:txBody>
      </p:sp>
      <p:sp>
        <p:nvSpPr>
          <p:cNvPr id="1022" name="Text 60 copy 1022"/>
          <p:cNvSpPr txBox="1"/>
          <p:nvPr/>
        </p:nvSpPr>
        <p:spPr>
          <a:xfrm>
            <a:off x="3822192" y="391363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64592" y="4133088"/>
            <a:ext cx="4206240" cy="182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201168" y="4151376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Mesa/Papel</a:t>
            </a:r>
            <a:endParaRPr lang="en-US" sz="700" dirty="0"/>
          </a:p>
        </p:txBody>
      </p:sp>
      <p:sp>
        <p:nvSpPr>
          <p:cNvPr id="65" name="Text 63"/>
          <p:cNvSpPr txBox="1"/>
          <p:nvPr/>
        </p:nvSpPr>
        <p:spPr>
          <a:xfrm>
            <a:off x="1481328" y="4151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2066544" y="4151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750" dirty="0"/>
          </a:p>
        </p:txBody>
      </p:sp>
      <p:sp>
        <p:nvSpPr>
          <p:cNvPr id="67" name="Text 65"/>
          <p:cNvSpPr txBox="1"/>
          <p:nvPr/>
        </p:nvSpPr>
        <p:spPr>
          <a:xfrm>
            <a:off x="2651760" y="4151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50" dirty="0"/>
          </a:p>
        </p:txBody>
      </p:sp>
      <p:sp>
        <p:nvSpPr>
          <p:cNvPr id="68" name="Text 66"/>
          <p:cNvSpPr txBox="1"/>
          <p:nvPr/>
        </p:nvSpPr>
        <p:spPr>
          <a:xfrm>
            <a:off x="3236976" y="4151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50" dirty="0"/>
          </a:p>
        </p:txBody>
      </p:sp>
      <p:sp>
        <p:nvSpPr>
          <p:cNvPr id="1023" name="Text 63 copy 1023"/>
          <p:cNvSpPr txBox="1"/>
          <p:nvPr/>
        </p:nvSpPr>
        <p:spPr>
          <a:xfrm>
            <a:off x="3822192" y="4151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64592" y="4334256"/>
            <a:ext cx="4206240" cy="1828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201168" y="435254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Sublimación</a:t>
            </a:r>
            <a:endParaRPr lang="en-US" sz="700" dirty="0"/>
          </a:p>
        </p:txBody>
      </p:sp>
      <p:sp>
        <p:nvSpPr>
          <p:cNvPr id="71" name="Text 69"/>
          <p:cNvSpPr txBox="1"/>
          <p:nvPr/>
        </p:nvSpPr>
        <p:spPr>
          <a:xfrm>
            <a:off x="1481328" y="43525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2066544" y="43525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50" dirty="0"/>
          </a:p>
        </p:txBody>
      </p:sp>
      <p:sp>
        <p:nvSpPr>
          <p:cNvPr id="73" name="Text 71"/>
          <p:cNvSpPr txBox="1"/>
          <p:nvPr/>
        </p:nvSpPr>
        <p:spPr>
          <a:xfrm>
            <a:off x="2651760" y="43525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74" name="Text 72"/>
          <p:cNvSpPr txBox="1"/>
          <p:nvPr/>
        </p:nvSpPr>
        <p:spPr>
          <a:xfrm>
            <a:off x="3236976" y="43525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sp>
        <p:nvSpPr>
          <p:cNvPr id="1024" name="Text 69 copy 1024"/>
          <p:cNvSpPr txBox="1"/>
          <p:nvPr/>
        </p:nvSpPr>
        <p:spPr>
          <a:xfrm>
            <a:off x="3822192" y="43525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164592" y="4535424"/>
            <a:ext cx="4206240" cy="182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201168" y="4553712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Pendiente</a:t>
            </a:r>
            <a:endParaRPr lang="en-US" sz="700" dirty="0"/>
          </a:p>
        </p:txBody>
      </p:sp>
      <p:sp>
        <p:nvSpPr>
          <p:cNvPr id="77" name="Text 75"/>
          <p:cNvSpPr txBox="1"/>
          <p:nvPr/>
        </p:nvSpPr>
        <p:spPr>
          <a:xfrm>
            <a:off x="1481328" y="45537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78" name="Text 76"/>
          <p:cNvSpPr txBox="1"/>
          <p:nvPr/>
        </p:nvSpPr>
        <p:spPr>
          <a:xfrm>
            <a:off x="2066544" y="45537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79" name="Text 77"/>
          <p:cNvSpPr txBox="1"/>
          <p:nvPr/>
        </p:nvSpPr>
        <p:spPr>
          <a:xfrm>
            <a:off x="2651760" y="45537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80" name="Text 78"/>
          <p:cNvSpPr txBox="1"/>
          <p:nvPr/>
        </p:nvSpPr>
        <p:spPr>
          <a:xfrm>
            <a:off x="3236976" y="45537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sp>
        <p:nvSpPr>
          <p:cNvPr id="1025" name="Text 75 copy 1025"/>
          <p:cNvSpPr txBox="1"/>
          <p:nvPr/>
        </p:nvSpPr>
        <p:spPr>
          <a:xfrm>
            <a:off x="3822192" y="45537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" dirty="0"/>
          </a:p>
        </p:txBody>
      </p:sp>
      <p:sp>
        <p:nvSpPr>
          <p:cNvPr id="81" name="Text 79"/>
          <p:cNvSpPr txBox="1"/>
          <p:nvPr/>
        </p:nvSpPr>
        <p:spPr>
          <a:xfrm>
            <a:off x="164592" y="481888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Naranja = valor más alto   |   Septiembre: Sublimación pasa a Nº1 (12 ev.), Mesa/Papel baja a Nº2 (10 ev.); Pendiente, Corte y Diseño/Ficha empatan (7 ev.)  —  Verificado vs chat WA</a:t>
            </a:r>
            <a:endParaRPr lang="en-US" sz="700" dirty="0"/>
          </a:p>
        </p:txBody>
      </p:sp>
      <p:sp>
        <p:nvSpPr>
          <p:cNvPr id="1026" name="Text 56 copy 1026"/>
          <p:cNvSpPr txBox="1"/>
          <p:nvPr/>
        </p:nvSpPr>
        <p:spPr>
          <a:xfrm>
            <a:off x="4681728" y="39136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VS. AGOSTO (EVENTOS)</a:t>
            </a:r>
            <a:endParaRPr lang="en-US" sz="750" dirty="0"/>
          </a:p>
        </p:txBody>
      </p:sp>
      <p:sp>
        <p:nvSpPr>
          <p:cNvPr id="1027" name="Text 63 copy 1027"/>
          <p:cNvSpPr txBox="1"/>
          <p:nvPr/>
        </p:nvSpPr>
        <p:spPr>
          <a:xfrm>
            <a:off x="4681728" y="4133088"/>
            <a:ext cx="4297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Mesa/Papel 15 → 10 ▼     Pendiente 12 → 7 ▼     Faltó imp. 5 → 2 ▼</a:t>
            </a:r>
            <a:endParaRPr lang="en-US" sz="7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4 → 7 ▲     Diseño/Ficha 5 → 7 ▲     Confección 4 → 6 ▲     Sublimación 12 → 12 =</a:t>
            </a:r>
            <a:endParaRPr lang="en-US" sz="7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750" dirty="0" b="1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57 → 51 eventos (−11%), pero los metros de reproceso caen −54% (279 → 127 m).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749808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8600" y="164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ACCIÓN — 5 PASOS CONCRETOS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4592" y="868680"/>
            <a:ext cx="457200" cy="11704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4592" y="12527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868680"/>
            <a:ext cx="3886200" cy="11704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9326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URGENTE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1247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registro ploteo julio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4356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221m vs ~2.100m esperados. Recuperar datos para validar el 11,4%.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4592" y="2167128"/>
            <a:ext cx="457200" cy="1170432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64592" y="25511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" y="2167128"/>
            <a:ext cx="3886200" cy="11704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2311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PRIORITARIO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42316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"Mesa / Papel" al chat WA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273405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eventos de papel/calandra (may–sep) categorizados como otra causa. Nueva categoría en PENDIENTES PMK.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4592" y="3465576"/>
            <a:ext cx="457200" cy="1170432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64592" y="38496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" y="3465576"/>
            <a:ext cx="3886200" cy="11704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5295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PRIORITARIO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72160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Umbral alerta 8% mensual en ploteo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03250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&lt;7%, Naranja 7–10%, Rojo &gt;10% sobre (prod+reproc). Dashboard ya lo calcula.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868680"/>
            <a:ext cx="457200" cy="1170432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09160" y="12527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66360" y="868680"/>
            <a:ext cx="3886200" cy="11704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276088" y="9326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11247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Unificar categorías entre sistemas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14356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Mesa/Papel (WA) = Error en mesa + Falta de paño + Banding (Ploteo). Diccionario común.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167128"/>
            <a:ext cx="457200" cy="1170432"/>
          </a:xfrm>
          <a:prstGeom prst="rect">
            <a:avLst/>
          </a:prstGeom>
          <a:solidFill>
            <a:srgbClr val="1B7F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709160" y="25511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66360" y="2167128"/>
            <a:ext cx="3886200" cy="1170432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276088" y="22311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7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242316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ventas en Excel Maestro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273405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 Venta en Datos_Maestro lista. Activa % pérdida sobre venta automático.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09160" y="3465576"/>
            <a:ext cx="4343400" cy="1170432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864608" y="35570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Q4 2026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864608" y="386791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reproceso: 5,7% en sep. → meta ≤5% dic.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Reproc. 127m en sep. → meta ≤100m/mes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5070348"/>
            <a:ext cx="9034272" cy="73152"/>
          </a:xfrm>
          <a:prstGeom prst="rect">
            <a:avLst/>
          </a:prstGeom>
          <a:solidFill>
            <a:srgbClr val="ED6C2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50292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REPROCESO BAJÓ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13,9% → 5,7%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SEPTIEMBRE.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8346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D6C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EVENTOS CASI NO BAJAN: 57 → 51.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3611880"/>
            <a:ext cx="8412480" cy="7498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38587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$7.343.250 CLP costo estimado   |   933m reprocesados   |   80 eventos Mesa/Papel   |   Meta: ≤100m/mes dic. 2026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CLUB, UNA FAMILIA   |   www.playmaker.cl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PMK Informe Septiembre 2026</dc:title>
  <dc:subject>PptxGenJS Presentation</dc:subject>
  <dc:creator>PptxGenJS</dc:creator>
  <cp:lastModifiedBy>PptxGenJS</cp:lastModifiedBy>
  <cp:revision>1</cp:revision>
  <dcterms:created xsi:type="dcterms:W3CDTF">2026-08-31T13:07:26Z</dcterms:created>
  <dcterms:modified xsi:type="dcterms:W3CDTF">2026-08-31T13:07:26Z</dcterms:modified>
</cp:coreProperties>
</file>